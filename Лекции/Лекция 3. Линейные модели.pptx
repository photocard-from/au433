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96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22" r:id="rId14"/>
    <p:sldId id="321" r:id="rId15"/>
    <p:sldId id="324" r:id="rId16"/>
    <p:sldId id="325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7" r:id="rId25"/>
    <p:sldId id="327" r:id="rId26"/>
    <p:sldId id="335" r:id="rId27"/>
    <p:sldId id="338" r:id="rId28"/>
    <p:sldId id="336" r:id="rId29"/>
    <p:sldId id="340" r:id="rId30"/>
    <p:sldId id="344" r:id="rId31"/>
    <p:sldId id="341" r:id="rId32"/>
    <p:sldId id="342" r:id="rId33"/>
    <p:sldId id="345" r:id="rId34"/>
    <p:sldId id="343" r:id="rId35"/>
    <p:sldId id="346" r:id="rId36"/>
    <p:sldId id="348" r:id="rId37"/>
    <p:sldId id="349" r:id="rId38"/>
    <p:sldId id="351" r:id="rId39"/>
    <p:sldId id="350" r:id="rId40"/>
    <p:sldId id="347" r:id="rId41"/>
    <p:sldId id="352" r:id="rId42"/>
    <p:sldId id="354" r:id="rId43"/>
    <p:sldId id="353" r:id="rId44"/>
    <p:sldId id="355" r:id="rId45"/>
    <p:sldId id="356" r:id="rId46"/>
    <p:sldId id="358" r:id="rId47"/>
    <p:sldId id="357" r:id="rId48"/>
    <p:sldId id="339" r:id="rId49"/>
    <p:sldId id="303" r:id="rId5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E6434-266F-42E7-9CAE-CB33155AF69F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32F29-D19B-4A2F-A692-94DE4E4746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95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91F0F-749A-4181-2BDB-44399BB32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A095B7-D72B-D43B-0F39-4853792B7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87F46F-2CDC-4091-B779-3455A733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6D2FF1-D0BD-2FBC-4356-2B608E4F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813B16-459B-0DDA-2723-620F1DAD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48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0DC29-6A25-0433-1E4E-9BDC5A828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4714BC-0CF7-4C8D-22D3-43F3059CA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8B428A-A29F-AA2F-5CCE-E46FC116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C4AF19-7C2E-DE32-A791-385DBF9C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D0512A-E453-E3CF-6B6D-2140BA1F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86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AE56F-ECE2-1477-F629-1FC606EB8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248126-09A1-0514-52B7-9402D0B6E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65B377-E82E-881F-6673-104BC238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41E12E-20AC-A4EB-CECD-93854781A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594C88-F632-80A0-0965-DD19D53F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860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94299-7CC9-59E2-728D-D6BA8AE7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3D7D4-69B9-AF1B-AB54-A6D1752C5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B34277-32A3-5777-8BD8-B861E7C1A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9A053C-944A-DD29-C9CD-8478BB37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355004-921F-1038-DEA3-CCA4AD8F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4E95A8-19BF-3711-99A4-D9B0300D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065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24195-6C32-02D5-4D53-29DE596B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B2BA63-5A99-F958-0576-ACCC70099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1689E7-2368-E63A-9915-2E48B8F9B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78B6F9E-9ED4-E1A2-FAB2-D71ABDAC2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AE462A-8F11-0B66-2DAD-1D239E213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2F8CCC-77A5-0AD5-0936-BBED14B5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B0BCE95-A4F3-40BC-3F18-472BCAAB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49D44EE-0681-5E30-44AF-B1A09A27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883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EAE10-BCD5-3E39-F657-4089A32C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ACECCCB-4417-B21F-4933-7EA7702F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8C19BB-E0C4-F394-607D-2D0395A2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6A8059-205C-C314-09C4-9526A21D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2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D5ADD25-57DF-68DD-1014-D372F55C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BC2F20E-B180-1721-D9FB-F186C910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F3A870-34AE-18E4-DBCC-224FAA39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633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5C65D-10FA-99C0-77F0-7D353652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F809F3-654C-F70A-6D75-29223BB36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D19D51-93E8-2219-1BA0-1291C824F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3DA8AC-482E-34C4-969C-4CCE5B5C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BC75B3-49AC-60B6-B493-E169A9CE5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0612A9-9CEE-4CD2-154F-1DDC9F7E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927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5F85C-E059-827B-DD04-CC2741A1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637618-EAA2-7EB6-6734-374C8DB9B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E9844C-5433-94FB-829E-F8C9EC973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65CF51-4F7F-44F1-7CB0-9643AE5C3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E31DBB-388F-5457-7C98-D006C1BB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D6963-3A66-46A1-2B7C-1E539C6AC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614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83D24-126E-46A9-B288-BF973D648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248F19-049F-028B-2E64-CCBA70C8E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21DA74-7898-CB1D-1963-E2EBBBEE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D5BC18-3E15-3F94-76D8-BAF8DF91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592BBC-4EA7-0032-3D05-AEC64922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252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1A41D1-72EA-91F3-C367-6F0FBF6E9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3BFD8C6-CAB2-ED20-7474-CA9435FCF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76D30D-164A-FA3B-974D-CE66343D7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5A6E8B-B0AC-DB12-8CED-B479E896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213B15-3D28-CE39-26A4-0906EBA51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67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EFBA0-C922-C6F7-F6FC-B89CF044F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2A45B1-0387-B007-BA55-F0AE29E3E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BE9153-3DE1-F90F-BA13-0931BDED3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3A61D-580B-421A-80D2-2453415F045C}" type="datetimeFigureOut">
              <a:rPr lang="ru-RU" smtClean="0"/>
              <a:t>24.09.2026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9FB53A-C4E8-608D-E1DD-9576177D5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5D5625-0217-C555-71AF-E6F83E318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EFD4D-1AEA-4464-8603-50785816BE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78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B2394F2A-9430-DEC5-7040-A8615223D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458" y="0"/>
            <a:ext cx="12198458" cy="685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67728-B597-2994-7C6A-8371B7265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519" y="154175"/>
            <a:ext cx="9144000" cy="238760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Машинное обучение и нейронные сети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D6A9FB-BF0F-572B-53AE-BF05689DC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5766" y="2857968"/>
            <a:ext cx="9144000" cy="1655762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Лекция 3. Линейные модели</a:t>
            </a:r>
          </a:p>
        </p:txBody>
      </p:sp>
    </p:spTree>
    <p:extLst>
      <p:ext uri="{BB962C8B-B14F-4D97-AF65-F5344CB8AC3E}">
        <p14:creationId xmlns:p14="http://schemas.microsoft.com/office/powerpoint/2010/main" val="2465618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663F-9886-AD89-0B24-868E71982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98B79-378E-61CB-4231-BF7B60DB6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линейные модели всё ещё актуальны?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6C88C27A-C851-FEDD-D311-8B075D8091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F4825FFB-0761-C3BE-227D-94298E841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351338"/>
          </a:xfrm>
        </p:spPr>
        <p:txBody>
          <a:bodyPr/>
          <a:lstStyle/>
          <a:p>
            <a:r>
              <a:rPr lang="ru-RU" dirty="0"/>
              <a:t>Простые, интерпретируемы, надёжны</a:t>
            </a:r>
          </a:p>
          <a:p>
            <a:r>
              <a:rPr lang="ru-RU" dirty="0"/>
              <a:t>Почти не переобучаются</a:t>
            </a:r>
          </a:p>
          <a:p>
            <a:r>
              <a:rPr lang="ru-RU" dirty="0"/>
              <a:t>Легки в применение</a:t>
            </a:r>
          </a:p>
        </p:txBody>
      </p:sp>
    </p:spTree>
    <p:extLst>
      <p:ext uri="{BB962C8B-B14F-4D97-AF65-F5344CB8AC3E}">
        <p14:creationId xmlns:p14="http://schemas.microsoft.com/office/powerpoint/2010/main" val="2217011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09118-AA07-E988-15F3-142B7F2DB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54127-01DA-EB42-2EB0-72ADE157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линейные модели всё ещё актуальны?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1A7DE10B-10AD-2BF8-541C-97D5430670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1205698-BD8B-7A81-08F2-9F84D49BA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351338"/>
          </a:xfrm>
        </p:spPr>
        <p:txBody>
          <a:bodyPr/>
          <a:lstStyle/>
          <a:p>
            <a:r>
              <a:rPr lang="ru-RU" dirty="0"/>
              <a:t>Простые, интерпретируемы, надёжны</a:t>
            </a:r>
          </a:p>
          <a:p>
            <a:r>
              <a:rPr lang="ru-RU" dirty="0"/>
              <a:t>Почти не переобучаются</a:t>
            </a:r>
          </a:p>
          <a:p>
            <a:r>
              <a:rPr lang="ru-RU" dirty="0"/>
              <a:t>Легки в применение</a:t>
            </a:r>
          </a:p>
        </p:txBody>
      </p:sp>
    </p:spTree>
    <p:extLst>
      <p:ext uri="{BB962C8B-B14F-4D97-AF65-F5344CB8AC3E}">
        <p14:creationId xmlns:p14="http://schemas.microsoft.com/office/powerpoint/2010/main" val="2461989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C60F9-CA44-35B1-645B-1C1FF6AE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/>
              <a:t>Линейная регрессия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C1CC107F-365B-BFFF-4482-26701B634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129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0E12-FE88-E7AB-407D-F3971DCA2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E20CE-0F3C-4CB1-78DB-4A80C113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F76EEECB-CD9F-F0B9-8A89-9FE4FADA70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1411CD2-75A2-97E2-EC56-6827C803B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677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Датасет: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E67F40-86CE-60FC-43F0-6470E3156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467" y="2419209"/>
            <a:ext cx="8268854" cy="2019582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C98C378F-C103-70D0-A5C1-2E4FC729EEC2}"/>
              </a:ext>
            </a:extLst>
          </p:cNvPr>
          <p:cNvSpPr txBox="1">
            <a:spLocks/>
          </p:cNvSpPr>
          <p:nvPr/>
        </p:nvSpPr>
        <p:spPr>
          <a:xfrm>
            <a:off x="834971" y="4515038"/>
            <a:ext cx="10515600" cy="67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Функция потерь: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1D44BF-2BC1-4221-98E1-CB6AF9168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478" y="4853742"/>
            <a:ext cx="4734586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3F54-D9B6-A437-9E03-6A0E4894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612E3-FE58-5DB2-1CC2-AB35F9432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модели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58834179-0BB5-45D7-1B33-4EE6657356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DA4028D-15FE-8FAB-F413-D36723BC1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8458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Представление модели: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115885-09B6-DC16-9BBB-B96E0F932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837" y="2449182"/>
            <a:ext cx="6992326" cy="714475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0D39505D-CD96-5947-921D-5DC15D0EEE71}"/>
              </a:ext>
            </a:extLst>
          </p:cNvPr>
          <p:cNvSpPr txBox="1">
            <a:spLocks/>
          </p:cNvSpPr>
          <p:nvPr/>
        </p:nvSpPr>
        <p:spPr>
          <a:xfrm>
            <a:off x="834971" y="3578367"/>
            <a:ext cx="10515600" cy="845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Намного удобнее для записи внести 1 в вектор признаков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7AA8C6-9C5A-75EC-9005-276D1445D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706" y="3578367"/>
            <a:ext cx="2915057" cy="48584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9CF475-9C9B-A896-04B4-E3117127E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9233" y="4311476"/>
            <a:ext cx="4353533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55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8D165-6EE6-2518-5D7B-B537CDB94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76613-C6FA-44DD-4A60-FD879DA14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Линейность по параметрам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0A802F04-D8EF-647D-8C47-AAAD75DA4C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965BBF-7CFB-C81A-6B14-E6DD62BA7E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Какое может быть происхождение у признаков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?</a:t>
                </a:r>
              </a:p>
              <a:p>
                <a:r>
                  <a:rPr lang="ru-RU" sz="2400" dirty="0"/>
                  <a:t>Численные признаки</a:t>
                </a:r>
              </a:p>
              <a:p>
                <a:r>
                  <a:rPr lang="ru-RU" sz="2400" dirty="0"/>
                  <a:t>Преобразования численных признаков (логарифм, корень, и др.)</a:t>
                </a:r>
              </a:p>
              <a:p>
                <a:r>
                  <a:rPr lang="ru-RU" sz="2400" dirty="0"/>
                  <a:t>Степени численного признака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ru-RU" sz="2400" dirty="0"/>
              </a:p>
              <a:p>
                <a:r>
                  <a:rPr lang="ru-RU" sz="2400" dirty="0"/>
                  <a:t>Значения </a:t>
                </a:r>
                <a:r>
                  <a:rPr lang="en-US" sz="2400" dirty="0"/>
                  <a:t>One-Hot-Encoding</a:t>
                </a:r>
              </a:p>
              <a:p>
                <a:r>
                  <a:rPr lang="ru-RU" sz="2400" dirty="0"/>
                  <a:t>Взаимодействия между разными признаками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sz="2400" dirty="0"/>
              </a:p>
              <a:p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Линейная модель линейна по параметрам, а не по признакам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C965BBF-7CFB-C81A-6B14-E6DD62BA7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351338"/>
              </a:xfrm>
              <a:blipFill>
                <a:blip r:embed="rId3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1050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09059-4733-55FD-1C62-182CB85B4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8CC84-332F-92BF-8D81-F856A8B81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51FD207A-C4F4-B01C-09EE-375BE8B7C1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D0E59DD9-3B16-758B-FFB4-42E3792DD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02622" y="1502429"/>
            <a:ext cx="73802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2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9D56D-B1C3-68CA-9610-C79DA7DD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D833B-81C6-7F11-0B69-5690C69C7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Точное решение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09F36E88-B313-50CB-62D6-0001FB815F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701D0EF-BDFE-7E43-87C0-0C1495367A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Запишем то, что мы хотим получить: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𝐗𝐰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endParaRPr lang="ru-RU" sz="2400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701D0EF-BDFE-7E43-87C0-0C1495367A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351338"/>
              </a:xfrm>
              <a:blipFill>
                <a:blip r:embed="rId3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4FAEEF-2D11-434B-4A9C-CA01BFC83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002" y="2316289"/>
            <a:ext cx="7611537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837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33D07-81C1-C375-8597-3E12ABE87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93C909-F96D-72D1-DEC3-BE1141D7D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Точное решение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8F180122-6B65-BC26-7EB9-4CF69B938C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E1EFD1-B0B1-9C60-68AD-A7EDCB1325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6774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Случай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 тогда матрица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ru-RU" sz="2400" b="1" dirty="0"/>
                  <a:t> </a:t>
                </a:r>
                <a:r>
                  <a:rPr lang="ru-RU" sz="2400" dirty="0"/>
                  <a:t>– квадратная и может иметь обратную матрицу</a:t>
                </a:r>
                <a:endParaRPr lang="ru-RU" sz="2400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E1EFD1-B0B1-9C60-68AD-A7EDCB1325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677408"/>
              </a:xfrm>
              <a:blipFill>
                <a:blip r:embed="rId3"/>
                <a:stretch>
                  <a:fillRect l="-928" t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C0AEDF-63E4-59AA-450E-2E3A88B7B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117" y="2636941"/>
            <a:ext cx="3534268" cy="1781424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086FFB16-E7EF-B1D3-B43E-AC9429E11304}"/>
              </a:ext>
            </a:extLst>
          </p:cNvPr>
          <p:cNvSpPr txBox="1">
            <a:spLocks/>
          </p:cNvSpPr>
          <p:nvPr/>
        </p:nvSpPr>
        <p:spPr>
          <a:xfrm>
            <a:off x="7400365" y="2684398"/>
            <a:ext cx="2846294" cy="7446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Система линейных уравнений:</a:t>
            </a:r>
            <a:endParaRPr lang="ru-RU" sz="24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4A46F6E-5D0F-5116-B013-2B394633C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0015" y="3429000"/>
            <a:ext cx="1695687" cy="533474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148B94E6-FBC8-F2B4-CA6F-EB859F91416C}"/>
              </a:ext>
            </a:extLst>
          </p:cNvPr>
          <p:cNvSpPr txBox="1">
            <a:spLocks/>
          </p:cNvSpPr>
          <p:nvPr/>
        </p:nvSpPr>
        <p:spPr>
          <a:xfrm>
            <a:off x="7400365" y="4066351"/>
            <a:ext cx="2846294" cy="53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Решение:</a:t>
            </a:r>
            <a:endParaRPr lang="ru-RU" sz="2400" b="1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20A9CE7-28D4-63F9-1CD5-9EDD2777A9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333" y="4516735"/>
            <a:ext cx="1914792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07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9C60-5E89-6A5F-05B4-1F8386315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953B5-D2BD-212B-5BC4-0D2E08645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Псевдо-обратная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D6F9044C-4020-54F2-6125-3692A14DE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B179A2B-E4BB-ADA1-40D1-D36BD6DE64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6774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Обычно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 тогда у нас </a:t>
                </a:r>
                <a:r>
                  <a:rPr lang="ru-RU" sz="2400" i="1" dirty="0"/>
                  <a:t>переопределенная система линейных уравнений</a:t>
                </a:r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B179A2B-E4BB-ADA1-40D1-D36BD6DE64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677408"/>
              </a:xfrm>
              <a:blipFill>
                <a:blip r:embed="rId3"/>
                <a:stretch>
                  <a:fillRect l="-928" t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95350D-5594-3E06-94CB-CB98863E8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404542"/>
            <a:ext cx="3639058" cy="3429479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BE048C19-DE92-BB79-77EF-BF12198F7AA4}"/>
              </a:ext>
            </a:extLst>
          </p:cNvPr>
          <p:cNvSpPr txBox="1">
            <a:spLocks/>
          </p:cNvSpPr>
          <p:nvPr/>
        </p:nvSpPr>
        <p:spPr>
          <a:xfrm>
            <a:off x="5616388" y="2684398"/>
            <a:ext cx="2846294" cy="7446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Система линейных уравнений:</a:t>
            </a:r>
            <a:endParaRPr lang="ru-RU" sz="2400" b="1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C3DA535-7A9E-3904-6F14-E0DCF2E986B8}"/>
              </a:ext>
            </a:extLst>
          </p:cNvPr>
          <p:cNvSpPr txBox="1">
            <a:spLocks/>
          </p:cNvSpPr>
          <p:nvPr/>
        </p:nvSpPr>
        <p:spPr>
          <a:xfrm>
            <a:off x="5616387" y="4066351"/>
            <a:ext cx="3953435" cy="67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Приближенное решение</a:t>
            </a:r>
            <a:endParaRPr lang="ru-RU" sz="24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2A8F1A-4554-C439-8ECC-1D857D2E6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3968" y="3429000"/>
            <a:ext cx="1695687" cy="53347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E598101-91D1-C91D-B579-0565C76FCE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1413" y="4493377"/>
            <a:ext cx="4658375" cy="619211"/>
          </a:xfrm>
          <a:prstGeom prst="rect">
            <a:avLst/>
          </a:prstGeom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AD957750-200A-B302-7CC9-92A07D5EFD93}"/>
              </a:ext>
            </a:extLst>
          </p:cNvPr>
          <p:cNvSpPr txBox="1">
            <a:spLocks/>
          </p:cNvSpPr>
          <p:nvPr/>
        </p:nvSpPr>
        <p:spPr>
          <a:xfrm>
            <a:off x="5616387" y="5200909"/>
            <a:ext cx="6490448" cy="751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 err="1"/>
              <a:t>Псевдообратная</a:t>
            </a:r>
            <a:r>
              <a:rPr lang="ru-RU" sz="2400" dirty="0"/>
              <a:t> матрица дает решение с наименьшей квадратичной ошибкой.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353207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29C39-45D2-3036-4EBC-0E8130097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79E9025-0D48-332A-2BA7-2825E7470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33" y="2424429"/>
            <a:ext cx="8421275" cy="13717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EA6B5-7E12-2592-6386-8DA617716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решения через производную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2CE81FE3-2331-91AC-F139-6F180D7812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49578F4-7EB1-B635-C7C8-A5CE2CD21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932459" cy="677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Подставим выражение для             в функцию потерь и запишем в векторном виде: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47DDAEC-CC3A-1875-0F51-EF55445F235D}"/>
              </a:ext>
            </a:extLst>
          </p:cNvPr>
          <p:cNvSpPr txBox="1">
            <a:spLocks/>
          </p:cNvSpPr>
          <p:nvPr/>
        </p:nvSpPr>
        <p:spPr>
          <a:xfrm>
            <a:off x="838199" y="3950083"/>
            <a:ext cx="3953435" cy="67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Возьмём производную</a:t>
            </a:r>
            <a:endParaRPr lang="ru-RU" sz="2400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8DDD64A-2303-082B-22D9-B6C8A8640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581" y="1794250"/>
            <a:ext cx="752580" cy="47631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17F2215-42FF-A389-9B49-057239943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5971" y="4522900"/>
            <a:ext cx="3820058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83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A24DD-886E-54FF-46A7-E27105EC9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B4A663-B4D1-74EE-7643-E0A61157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решения через производную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293D900A-B87A-2711-38B7-3B49BDD718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B802F66-AEC6-BF14-1938-069CFC19D4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9000"/>
                <a:ext cx="9300882" cy="12298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Если у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линейно независимые столбцы, то можно приравнять производную к нулю.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B802F66-AEC6-BF14-1938-069CFC19D4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9000"/>
                <a:ext cx="9300882" cy="1229810"/>
              </a:xfrm>
              <a:blipFill>
                <a:blip r:embed="rId3"/>
                <a:stretch>
                  <a:fillRect l="-1049" t="-69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Объект 2">
            <a:extLst>
              <a:ext uri="{FF2B5EF4-FFF2-40B4-BE49-F238E27FC236}">
                <a16:creationId xmlns:a16="http://schemas.microsoft.com/office/drawing/2014/main" id="{E5794F5A-79F0-61BB-1993-3D4C250590EA}"/>
              </a:ext>
            </a:extLst>
          </p:cNvPr>
          <p:cNvSpPr txBox="1">
            <a:spLocks/>
          </p:cNvSpPr>
          <p:nvPr/>
        </p:nvSpPr>
        <p:spPr>
          <a:xfrm>
            <a:off x="838199" y="1578602"/>
            <a:ext cx="3953435" cy="67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Возьмём производную</a:t>
            </a:r>
            <a:endParaRPr lang="ru-RU" sz="2400" b="1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4F7307E-AFD8-A2BF-7AC9-E60392C7F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971" y="2151419"/>
            <a:ext cx="3820058" cy="105742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DBBC26-F2A4-7979-BA37-D35FCFC1B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216" y="4183546"/>
            <a:ext cx="3477110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68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A85A-7E6D-3AD1-2354-32D450EC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F3FFB-6E13-ECCF-5C32-D5AF8849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/>
              <a:t>Обучение классификаторов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A9CF3FC1-0D92-1C1D-93AF-1BBAEF5B5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786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FD5CA-4D9B-C6FE-CFF3-D1AD05A2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F7FA0-0531-B7C4-C556-5CE4384B4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687AD3FB-1FFF-39A0-89E4-64BA48CAB1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E2309590-18B3-8792-8AFD-505F827E3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677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Датасет: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B7979AE-3DF8-7E7F-5D14-38C974CBF10D}"/>
              </a:ext>
            </a:extLst>
          </p:cNvPr>
          <p:cNvSpPr txBox="1">
            <a:spLocks/>
          </p:cNvSpPr>
          <p:nvPr/>
        </p:nvSpPr>
        <p:spPr>
          <a:xfrm>
            <a:off x="834971" y="4515038"/>
            <a:ext cx="10515600" cy="67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Функция потерь: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C2AE300-15FA-DD52-C082-CE3A88C4A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71" y="2259705"/>
            <a:ext cx="3267531" cy="6287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Объект 2">
                <a:extLst>
                  <a:ext uri="{FF2B5EF4-FFF2-40B4-BE49-F238E27FC236}">
                    <a16:creationId xmlns:a16="http://schemas.microsoft.com/office/drawing/2014/main" id="{CD49A953-9EEB-C8C8-C672-CD50F8CFCD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82035" y="2336502"/>
                <a:ext cx="6964501" cy="6774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400" dirty="0"/>
                  <a:t>Другими словами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это вектор из 0 и 1</a:t>
                </a:r>
              </a:p>
            </p:txBody>
          </p:sp>
        </mc:Choice>
        <mc:Fallback xmlns="">
          <p:sp>
            <p:nvSpPr>
              <p:cNvPr id="12" name="Объект 2">
                <a:extLst>
                  <a:ext uri="{FF2B5EF4-FFF2-40B4-BE49-F238E27FC236}">
                    <a16:creationId xmlns:a16="http://schemas.microsoft.com/office/drawing/2014/main" id="{CD49A953-9EEB-C8C8-C672-CD50F8CFC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035" y="2336502"/>
                <a:ext cx="6964501" cy="677408"/>
              </a:xfrm>
              <a:prstGeom prst="rect">
                <a:avLst/>
              </a:prstGeom>
              <a:blipFill>
                <a:blip r:embed="rId4"/>
                <a:stretch>
                  <a:fillRect l="-1312" t="-12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F9FCEF2-88F5-A46A-A155-7D5E052E6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7601" y="2838796"/>
            <a:ext cx="5896798" cy="1600423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F9B9A37D-1AB4-5A78-1EB0-016732E45CB2}"/>
              </a:ext>
            </a:extLst>
          </p:cNvPr>
          <p:cNvSpPr txBox="1">
            <a:spLocks/>
          </p:cNvSpPr>
          <p:nvPr/>
        </p:nvSpPr>
        <p:spPr>
          <a:xfrm>
            <a:off x="3007660" y="5150619"/>
            <a:ext cx="6964501" cy="534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/>
              <a:t>Предыдущие не подходят, будем искать новую</a:t>
            </a:r>
          </a:p>
        </p:txBody>
      </p:sp>
    </p:spTree>
    <p:extLst>
      <p:ext uri="{BB962C8B-B14F-4D97-AF65-F5344CB8AC3E}">
        <p14:creationId xmlns:p14="http://schemas.microsoft.com/office/powerpoint/2010/main" val="890568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D9E4-67FC-FE52-B5A8-68E936972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B2E59-9F67-2A28-2A37-7F212832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Вероятностная модель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EAC5AC69-E5FA-ED45-95C9-10F655CF76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F63980F7-E484-EEBC-0290-706633F0C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857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Х - случайная величина вектор признаков</a:t>
            </a:r>
          </a:p>
          <a:p>
            <a:pPr marL="0" indent="0">
              <a:buNone/>
            </a:pPr>
            <a:r>
              <a:rPr lang="ru-RU" sz="2400" dirty="0"/>
              <a:t>Y - случайная величина целевая переменная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Пример случайной модели (клики на рекламу): </a:t>
            </a:r>
          </a:p>
          <a:p>
            <a:pPr marL="0" indent="0">
              <a:buNone/>
            </a:pPr>
            <a:r>
              <a:rPr lang="ru-RU" sz="2400" dirty="0"/>
              <a:t>X = (количество кликов раньше, время активности, уровень доходов) </a:t>
            </a:r>
          </a:p>
          <a:p>
            <a:pPr marL="0" indent="0">
              <a:buNone/>
            </a:pPr>
            <a:r>
              <a:rPr lang="ru-RU" sz="2400" dirty="0"/>
              <a:t>Y = 1 если клик будет, 0 если клика не будет. </a:t>
            </a:r>
          </a:p>
          <a:p>
            <a:pPr marL="0" indent="0">
              <a:buNone/>
            </a:pPr>
            <a:r>
              <a:rPr lang="ru-RU" sz="2400" dirty="0"/>
              <a:t>Тогда можно задать распределение вероятностей: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5AADA24-059D-5FDE-0B01-ABA8811E0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226360"/>
            <a:ext cx="6649378" cy="457264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5B9A9345-F383-DB21-1C74-123C7D50B61D}"/>
              </a:ext>
            </a:extLst>
          </p:cNvPr>
          <p:cNvSpPr txBox="1">
            <a:spLocks/>
          </p:cNvSpPr>
          <p:nvPr/>
        </p:nvSpPr>
        <p:spPr>
          <a:xfrm>
            <a:off x="7682753" y="5020842"/>
            <a:ext cx="3671047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dirty="0"/>
              <a:t>вероятность того, что человек с заданными характеристиками кликнет на рекламу</a:t>
            </a:r>
          </a:p>
        </p:txBody>
      </p:sp>
    </p:spTree>
    <p:extLst>
      <p:ext uri="{BB962C8B-B14F-4D97-AF65-F5344CB8AC3E}">
        <p14:creationId xmlns:p14="http://schemas.microsoft.com/office/powerpoint/2010/main" val="61430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C2CD-9356-4613-F71D-8C91FE545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6B792F-00D5-E3E9-D87D-C87F7ED18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Вероятностная модель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B613121F-0FD4-B308-03C8-42363AA30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4699935-555A-421C-0EE4-279C0FBEB1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21553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/>
                  <a:t>Найдем способ для обучения любой модели, предсказывающей вероятность принадлежности к классу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- </a:t>
                </a:r>
                <a:r>
                  <a:rPr lang="ru-RU" sz="2400" dirty="0">
                    <a:latin typeface="Cambria Math" panose="02040503050406030204" pitchFamily="18" charset="0"/>
                  </a:rPr>
                  <a:t>вектор признаков,</a:t>
                </a:r>
                <a:r>
                  <a:rPr lang="ru-RU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400" dirty="0"/>
                  <a:t> - наша модель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4699935-555A-421C-0EE4-279C0FBEB1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2155324"/>
              </a:xfrm>
              <a:blipFill>
                <a:blip r:embed="rId3"/>
                <a:stretch>
                  <a:fillRect l="-928" t="-39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Объект 2">
            <a:extLst>
              <a:ext uri="{FF2B5EF4-FFF2-40B4-BE49-F238E27FC236}">
                <a16:creationId xmlns:a16="http://schemas.microsoft.com/office/drawing/2014/main" id="{6E7F5663-0CB0-6CCD-6EA0-6EE77904BAE7}"/>
              </a:ext>
            </a:extLst>
          </p:cNvPr>
          <p:cNvSpPr txBox="1">
            <a:spLocks/>
          </p:cNvSpPr>
          <p:nvPr/>
        </p:nvSpPr>
        <p:spPr>
          <a:xfrm>
            <a:off x="838200" y="4316909"/>
            <a:ext cx="3671047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Назовем правдоподобием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193B82-143D-E4BA-9F01-05DE3559A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287" y="3143141"/>
            <a:ext cx="4058232" cy="74356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3BC4AD-6B62-043B-9C3A-22A1DEA31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568" y="3980950"/>
            <a:ext cx="2419688" cy="1086002"/>
          </a:xfrm>
          <a:prstGeom prst="rect">
            <a:avLst/>
          </a:prstGeom>
        </p:spPr>
      </p:pic>
      <p:sp>
        <p:nvSpPr>
          <p:cNvPr id="13" name="Объект 2">
            <a:extLst>
              <a:ext uri="{FF2B5EF4-FFF2-40B4-BE49-F238E27FC236}">
                <a16:creationId xmlns:a16="http://schemas.microsoft.com/office/drawing/2014/main" id="{5ACA154B-08B6-B262-FB1D-2E11DD3BCFFF}"/>
              </a:ext>
            </a:extLst>
          </p:cNvPr>
          <p:cNvSpPr txBox="1">
            <a:spLocks/>
          </p:cNvSpPr>
          <p:nvPr/>
        </p:nvSpPr>
        <p:spPr>
          <a:xfrm>
            <a:off x="838199" y="5405042"/>
            <a:ext cx="10376647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Это вероятность получения нашей выборки согласно предсказаниям модели</a:t>
            </a:r>
          </a:p>
        </p:txBody>
      </p:sp>
    </p:spTree>
    <p:extLst>
      <p:ext uri="{BB962C8B-B14F-4D97-AF65-F5344CB8AC3E}">
        <p14:creationId xmlns:p14="http://schemas.microsoft.com/office/powerpoint/2010/main" val="1423871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2A76-5E6B-6349-A445-32F941D1A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D6A45-0828-E9A9-C9A9-525A01435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 через максимальное правдоподобие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B6AB11CE-9E41-8EE5-3853-29F0F724D1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97FEA5EB-6B1D-33DF-F82B-A107353DF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193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Теорема из статистики гарантирует, что если мы найдем параметры модели, которые максимизируют правдоподобие, то они будут хорошие.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25D014-A37D-5E8B-21D9-A655C419A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557" y="2852588"/>
            <a:ext cx="4496427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75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9918B-E8B3-F6EA-F87B-D56102E1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E218F2E-9C77-06D8-19DE-13DE535D2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424" y="2339181"/>
            <a:ext cx="6220693" cy="141942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2B060B-FF8C-3170-4471-97F54E6C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с минимизацией функции потерь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3F2EBE57-82A9-CE38-7D59-AC670713B4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82468E9-CD0F-D018-0951-6371BC558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155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Преобразуем задачу максимизации в задачу минимизации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D7D3288A-B01A-9EB4-7613-B06ECD798757}"/>
              </a:ext>
            </a:extLst>
          </p:cNvPr>
          <p:cNvSpPr txBox="1">
            <a:spLocks/>
          </p:cNvSpPr>
          <p:nvPr/>
        </p:nvSpPr>
        <p:spPr>
          <a:xfrm>
            <a:off x="838200" y="4316909"/>
            <a:ext cx="10515600" cy="1438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Мы видим что минимизация полученного выражения - то же самое, что минимизация эмпирического риска, где функция потерь - логарифм вероятности правильного класса</a:t>
            </a:r>
          </a:p>
        </p:txBody>
      </p:sp>
    </p:spTree>
    <p:extLst>
      <p:ext uri="{BB962C8B-B14F-4D97-AF65-F5344CB8AC3E}">
        <p14:creationId xmlns:p14="http://schemas.microsoft.com/office/powerpoint/2010/main" val="37962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38E9B-2881-4705-75B4-57EF1D9C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10499-1B12-3E2C-79ED-649963CF8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мы сделали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451621D2-5D8D-6725-BE80-0FEED4ACD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363F19E8-B1C8-F8FD-0B0A-9D92C2A60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155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Мы знаем, что максимизация правдоподобия дает хорошие веса из статистики. Изменив формулу, мы смогли найти такую функцию потерь, что ее минимизация и максимизация правдоподобия это одно и то же.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13DE3F-8E9F-06DE-693A-AF4FCB6D7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574" y="3094868"/>
            <a:ext cx="7182852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31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46DA5-FC5C-800B-0D5B-0F9BFC01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0B8CF-71C1-1076-E05B-471CFBE4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/>
              <a:t>Логистическая регрессия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18A684A4-AA84-B97B-9158-0FC637342A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9314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D81BF-94F0-27F4-A723-A558C8E66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688BB-FA4E-D38E-1F36-F4C88AC0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модели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4C821182-4E52-DC4C-2D8F-D306C7735C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4DCF097-AB83-24BB-9113-709DCA28C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677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Мы будем искать модель в следующем виде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D13C71-0128-429D-CB2B-DCD4AF6D6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636" y="3190548"/>
            <a:ext cx="3048425" cy="67636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76E6FE-DC1C-BE4F-44FE-B75D0D92D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912" y="2381105"/>
            <a:ext cx="3896269" cy="1419423"/>
          </a:xfrm>
          <a:prstGeom prst="rect">
            <a:avLst/>
          </a:prstGeom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5AB3F3FC-8287-61CF-C190-D1635C1C33BC}"/>
              </a:ext>
            </a:extLst>
          </p:cNvPr>
          <p:cNvSpPr txBox="1">
            <a:spLocks/>
          </p:cNvSpPr>
          <p:nvPr/>
        </p:nvSpPr>
        <p:spPr>
          <a:xfrm>
            <a:off x="838200" y="3933307"/>
            <a:ext cx="10515600" cy="67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Определение </a:t>
            </a:r>
            <a:r>
              <a:rPr lang="ru-RU" sz="2400" dirty="0" err="1"/>
              <a:t>сигмоиды</a:t>
            </a:r>
            <a:r>
              <a:rPr lang="ru-RU" sz="2400" dirty="0"/>
              <a:t>: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522D76F-4341-0C05-0880-1D018C5B1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2980" y="4544876"/>
            <a:ext cx="3349863" cy="137184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83C0619-3120-3CC3-0187-46A05F172E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181" y="3793340"/>
            <a:ext cx="3524742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70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E378-870F-35C5-0E80-B77597F49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D37B1-488F-5852-9ED9-742F7D1D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Предсказание вероятности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F1D4739E-CACE-2EAC-EB49-B0F85FE089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8FD28079-6768-00F7-B764-CE977D6B7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Будем считать, что наша модель предсказывает вероятности. </a:t>
            </a:r>
            <a:br>
              <a:rPr lang="ru-RU" sz="2400" dirty="0"/>
            </a:br>
            <a:r>
              <a:rPr lang="ru-RU" sz="2400" dirty="0"/>
              <a:t>Именно поэтому она называется регрессией.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Вероятность для двух классов можно расписать так: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FA96B41-D40D-BA5F-90FE-900BC0667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93" y="3268621"/>
            <a:ext cx="1886213" cy="59063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6DA3558-594A-2E1A-94BE-F031996F2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659" y="4008399"/>
            <a:ext cx="9204712" cy="112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1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832E-B81E-A40A-7AF2-CA9F1678C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5A897-0F54-A9BA-F85F-4087664D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7BC5F801-8803-17F0-60E3-EB821E2573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5F3A510-5640-A3F1-6993-BC8FBA68D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89528"/>
            <a:ext cx="9553279" cy="442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7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98365-E40A-2193-2851-BFCFFB03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логистической регрессии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1DF7F4-1C10-E79C-A7C3-0BBEA5705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полученную ранее формулу функции потерь можно подставить вероятность, которую предсказывает логистическая регрессия.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Функция потерь для произвольного классификатора: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Функция потерь для логистической регрессии (</a:t>
            </a:r>
            <a:r>
              <a:rPr lang="ru-RU" sz="2400" dirty="0" err="1"/>
              <a:t>LogLoss</a:t>
            </a:r>
            <a:r>
              <a:rPr lang="ru-RU" sz="2400" dirty="0"/>
              <a:t>):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1B8B14-B678-1E0C-42AE-3D2ADB6DF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0" b="-1"/>
          <a:stretch>
            <a:fillRect/>
          </a:stretch>
        </p:blipFill>
        <p:spPr>
          <a:xfrm>
            <a:off x="2473791" y="3429000"/>
            <a:ext cx="6706536" cy="102148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4E1B03-004B-833D-C6E8-35D78D9F5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05" y="4872599"/>
            <a:ext cx="8973802" cy="1181265"/>
          </a:xfrm>
          <a:prstGeom prst="rect">
            <a:avLst/>
          </a:prstGeom>
        </p:spPr>
      </p:pic>
      <p:pic>
        <p:nvPicPr>
          <p:cNvPr id="10" name="Picture 2" descr="Picture background">
            <a:extLst>
              <a:ext uri="{FF2B5EF4-FFF2-40B4-BE49-F238E27FC236}">
                <a16:creationId xmlns:a16="http://schemas.microsoft.com/office/drawing/2014/main" id="{CD9B1579-3B3E-DAAF-C08E-39560BADE0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302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31F84-0522-4E2A-3B53-027A7BA57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427CE8-9A5B-C5B0-6E12-CF744902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Обобщение на много классов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A2C26F68-1F5A-0DA2-496C-C92B968934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41353119-865B-8242-3F9B-B26BAE603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677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Пусть у нас есть m классов. Введем две новые функции: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12C94D-AD95-DF47-AB36-D5D604C10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97" y="2503034"/>
            <a:ext cx="7906853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20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0E98B-CEA9-AB0A-1581-FC5035F3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 err="1"/>
              <a:t>Softmax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B59899F-594C-AAA1-8E76-F01731116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5442" y="1601041"/>
            <a:ext cx="7821116" cy="4201111"/>
          </a:xfrm>
          <a:prstGeom prst="rect">
            <a:avLst/>
          </a:prstGeom>
        </p:spPr>
      </p:pic>
      <p:pic>
        <p:nvPicPr>
          <p:cNvPr id="8" name="Picture 2" descr="Picture background">
            <a:extLst>
              <a:ext uri="{FF2B5EF4-FFF2-40B4-BE49-F238E27FC236}">
                <a16:creationId xmlns:a16="http://schemas.microsoft.com/office/drawing/2014/main" id="{4C5A6BF9-2A82-4B32-8439-355B8BC8E2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4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4FF8-48A9-600C-8BAB-5AA83AB36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DFAC0-5BB8-F8B4-DD64-375657A62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 классов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A8AE0B56-1DC6-EE6A-1B78-CF157CF759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EE1DF21C-2E13-AB2B-41AC-82C38C9AF791}"/>
              </a:ext>
            </a:extLst>
          </p:cNvPr>
          <p:cNvSpPr txBox="1">
            <a:spLocks/>
          </p:cNvSpPr>
          <p:nvPr/>
        </p:nvSpPr>
        <p:spPr>
          <a:xfrm>
            <a:off x="838200" y="2923655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Выпишем предсказанную вероятность для к-го класса. Ее можно подставить в функцию потерь для произвольного классификатора.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45A137-40BC-1AA3-7DAC-83416CC00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777" y="1690688"/>
            <a:ext cx="5753903" cy="89547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73ECDC1-95F5-3A1A-1FEC-D5AAA8F1F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896" y="3911726"/>
            <a:ext cx="8773749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86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B93A1-9EB7-D082-0077-4FD314858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5A987-0252-E346-7C04-AC014A1B5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/>
              <a:t>Градиентный спуск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BE63FAB0-2DDA-A421-246F-79DC71CE68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835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3B9B3-A36A-6B73-061C-0E1F5A725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1890B-0AC6-5DA7-4A78-0FAE4E05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логистической регрессии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E88868-1AF7-B0DB-3E03-E0F63F80C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полученную ранее формулу функции потерь можно подставить вероятность, которую предсказывает логистическая регрессия.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Функция потерь для произвольного классификатора: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Функция потерь для логистической регрессии (</a:t>
            </a:r>
            <a:r>
              <a:rPr lang="ru-RU" sz="2400" dirty="0" err="1"/>
              <a:t>LogLoss</a:t>
            </a:r>
            <a:r>
              <a:rPr lang="ru-RU" sz="2400" dirty="0"/>
              <a:t>):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F8FD3C-BBF3-3924-0B4B-A3A40A13D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0" b="-1"/>
          <a:stretch>
            <a:fillRect/>
          </a:stretch>
        </p:blipFill>
        <p:spPr>
          <a:xfrm>
            <a:off x="2473791" y="3429000"/>
            <a:ext cx="6706536" cy="102148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AEB8845-E371-637D-F513-29FF7DE14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05" y="4872599"/>
            <a:ext cx="8973802" cy="1181265"/>
          </a:xfrm>
          <a:prstGeom prst="rect">
            <a:avLst/>
          </a:prstGeom>
        </p:spPr>
      </p:pic>
      <p:pic>
        <p:nvPicPr>
          <p:cNvPr id="10" name="Picture 2" descr="Picture background">
            <a:extLst>
              <a:ext uri="{FF2B5EF4-FFF2-40B4-BE49-F238E27FC236}">
                <a16:creationId xmlns:a16="http://schemas.microsoft.com/office/drawing/2014/main" id="{401C09DA-1E53-77F5-3400-4EFB99C69A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162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6AAEE-18F1-C414-C7AD-CB505F90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C7355-192D-0AAF-198E-E4CCBAB3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Эвристика градиентного спуска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18E5BD7E-7E9F-3FC8-BCCB-B6516E7E81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363D402-CEA6-1431-639E-13F46AD19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401" y="3319736"/>
            <a:ext cx="295316" cy="5715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AFDDDF3-586D-8BB2-5BA5-452D21559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800" y="3310771"/>
            <a:ext cx="295316" cy="5715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CF037A3-2134-F9D2-3949-B9C0BE5F8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702" y="3286386"/>
            <a:ext cx="842574" cy="16308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F1817C3-F5E3-AE27-D477-86EA2550C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731" y="1690688"/>
            <a:ext cx="7792537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50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8763-5EA6-F8F2-61BF-06F380A37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B3EB3-21CE-138D-391A-AF146E092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Градиентный спуск формализация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49E1514A-E3BF-8456-A188-154C9ECC3E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CD915272-B533-7A6B-8E8A-C00AFD12074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У нас стоит задача минимизации какой-то функции: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5EB431-76B6-E2F5-8357-2C1427CCC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11" y="2244411"/>
            <a:ext cx="3124636" cy="638264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2EB79D84-1A4A-B940-4F26-2FC55C4AC6AA}"/>
              </a:ext>
            </a:extLst>
          </p:cNvPr>
          <p:cNvSpPr txBox="1">
            <a:spLocks/>
          </p:cNvSpPr>
          <p:nvPr/>
        </p:nvSpPr>
        <p:spPr>
          <a:xfrm>
            <a:off x="834970" y="3016251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Чтобы применять метод градиентного спуска нужно уметь вычислять градиент функции в точке: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327E8C-E483-5B2B-8DC4-9617BEA86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153" y="3783328"/>
            <a:ext cx="6401693" cy="1162212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7CD5C110-2FE8-176F-FCEC-53D8DB740F58}"/>
              </a:ext>
            </a:extLst>
          </p:cNvPr>
          <p:cNvSpPr txBox="1">
            <a:spLocks/>
          </p:cNvSpPr>
          <p:nvPr/>
        </p:nvSpPr>
        <p:spPr>
          <a:xfrm>
            <a:off x="745323" y="4828781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Зададим некоторое число </a:t>
            </a:r>
            <a:r>
              <a:rPr lang="el-GR" sz="2400" dirty="0"/>
              <a:t>α</a:t>
            </a:r>
            <a:r>
              <a:rPr lang="ru-RU" sz="2400" dirty="0"/>
              <a:t>, которое будет влиять на то, насколько большие шаги мы делаем. Оно называется </a:t>
            </a:r>
            <a:r>
              <a:rPr lang="ru-RU" sz="2400" dirty="0" err="1"/>
              <a:t>learning</a:t>
            </a:r>
            <a:r>
              <a:rPr lang="ru-RU" sz="2400" dirty="0"/>
              <a:t> </a:t>
            </a:r>
            <a:r>
              <a:rPr lang="ru-RU" sz="2400" dirty="0" err="1"/>
              <a:t>rate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74823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5993-E48F-AB4D-2D34-849ABCFD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3A476A-DFB5-8730-123C-F28798D2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 градиентного спуска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A8E50A39-12B8-7418-D5BA-16BFE4F340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50A5FA5C-8AA9-C427-472A-75900DF3D88D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На каждом шаге будем менять все переменные, от которых зависит функция: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0A408B-96E3-C3E1-D579-D21411CFF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995" y="2161998"/>
            <a:ext cx="7240010" cy="1267002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441F5966-0F44-545A-A7E6-F26D745338BF}"/>
              </a:ext>
            </a:extLst>
          </p:cNvPr>
          <p:cNvSpPr txBox="1">
            <a:spLocks/>
          </p:cNvSpPr>
          <p:nvPr/>
        </p:nvSpPr>
        <p:spPr>
          <a:xfrm>
            <a:off x="838200" y="3543697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Или в векторной форме: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D175CAE-8FE9-317F-7C4A-BEE587488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603" y="3996405"/>
            <a:ext cx="3362794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45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89B5-FD38-9339-0F72-B356DBC6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4B063B-CF06-61D4-0E83-AF07A3B5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Градиентный спуск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8101B884-BA89-54D1-E532-E11622F0F8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3DCD07B0-DD84-AEAE-2846-BF63A42A1705}"/>
              </a:ext>
            </a:extLst>
          </p:cNvPr>
          <p:cNvSpPr txBox="1">
            <a:spLocks/>
          </p:cNvSpPr>
          <p:nvPr/>
        </p:nvSpPr>
        <p:spPr>
          <a:xfrm>
            <a:off x="838200" y="1598091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1) Выбираем точку, с которой начнем оптимизацию. </a:t>
            </a:r>
          </a:p>
          <a:p>
            <a:pPr marL="0" indent="0">
              <a:buNone/>
            </a:pPr>
            <a:r>
              <a:rPr lang="ru-RU" sz="2400" dirty="0"/>
              <a:t>2) На каждом шаге будем менять все переменные, от которых зависит функция: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D2BD0C-DB18-A54C-E868-A14CD4034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284" y="2739216"/>
            <a:ext cx="7211431" cy="1133633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7777FF82-2FC1-9BFE-3353-B6FA48BD7CE4}"/>
              </a:ext>
            </a:extLst>
          </p:cNvPr>
          <p:cNvSpPr txBox="1">
            <a:spLocks/>
          </p:cNvSpPr>
          <p:nvPr/>
        </p:nvSpPr>
        <p:spPr>
          <a:xfrm>
            <a:off x="834971" y="3911727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Или в векторной форме: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06EEE4-D570-2CEF-9E46-1A0F17BC0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603" y="4271838"/>
            <a:ext cx="3362794" cy="895475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4E1C34B4-0EF1-77BB-4D58-DAE536043F0B}"/>
              </a:ext>
            </a:extLst>
          </p:cNvPr>
          <p:cNvSpPr txBox="1">
            <a:spLocks/>
          </p:cNvSpPr>
          <p:nvPr/>
        </p:nvSpPr>
        <p:spPr>
          <a:xfrm>
            <a:off x="841429" y="5059492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Повторяем, пока изменение не будет достаточно маленьким или пройдет много шагов.</a:t>
            </a:r>
          </a:p>
        </p:txBody>
      </p:sp>
    </p:spTree>
    <p:extLst>
      <p:ext uri="{BB962C8B-B14F-4D97-AF65-F5344CB8AC3E}">
        <p14:creationId xmlns:p14="http://schemas.microsoft.com/office/powerpoint/2010/main" val="734115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23E3D-430D-4B17-A2DA-237824446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632F29-0DF1-DCCF-1A1E-D886B07DF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Градиентный спуск для параболы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3431DD94-9DBA-D1A1-80D2-F4393EA31D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075D2A9E-A60A-E1EF-22DD-EBC1FD77D7B2}"/>
              </a:ext>
            </a:extLst>
          </p:cNvPr>
          <p:cNvSpPr txBox="1">
            <a:spLocks/>
          </p:cNvSpPr>
          <p:nvPr/>
        </p:nvSpPr>
        <p:spPr>
          <a:xfrm>
            <a:off x="838200" y="1598091"/>
            <a:ext cx="10515600" cy="4175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Будем минимизировать</a:t>
            </a:r>
          </a:p>
          <a:p>
            <a:pPr marL="0" indent="0">
              <a:buNone/>
            </a:pPr>
            <a:r>
              <a:rPr lang="el-GR" sz="2400" dirty="0"/>
              <a:t>α</a:t>
            </a:r>
            <a:r>
              <a:rPr lang="ru-RU" sz="2400" dirty="0"/>
              <a:t> = 0.1</a:t>
            </a:r>
          </a:p>
          <a:p>
            <a:pPr marL="0" indent="0">
              <a:buNone/>
            </a:pPr>
            <a:r>
              <a:rPr lang="en-US" sz="2400" dirty="0"/>
              <a:t>x = 3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С каждым шагом мы будем приближаться к 0 - минимуму функции.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7D2FB2-FA75-2CC3-6EA3-6F23A4A6A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701" y="1431501"/>
            <a:ext cx="3753374" cy="73352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00F5-1CD2-8485-B976-9B8643926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675" y="2946931"/>
            <a:ext cx="3229426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387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FF876-6C0A-A624-992E-77A50BA63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E2802-C409-A877-BBB2-3527296C3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4859" cy="1325563"/>
          </a:xfrm>
        </p:spPr>
        <p:txBody>
          <a:bodyPr/>
          <a:lstStyle/>
          <a:p>
            <a:r>
              <a:rPr lang="ru-RU" dirty="0"/>
              <a:t>Градиентный спуск для линейной регрессии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0E897886-E6E7-1D87-96B4-9AA4C57EC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773B8B39-665D-F795-7189-52511D301EAC}"/>
              </a:ext>
            </a:extLst>
          </p:cNvPr>
          <p:cNvSpPr txBox="1">
            <a:spLocks/>
          </p:cNvSpPr>
          <p:nvPr/>
        </p:nvSpPr>
        <p:spPr>
          <a:xfrm>
            <a:off x="838200" y="1598091"/>
            <a:ext cx="10412506" cy="4184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Функция потерь (она зависит только от весов, потому что изменять </a:t>
            </a:r>
            <a:br>
              <a:rPr lang="ru-RU" sz="2400" dirty="0"/>
            </a:br>
            <a:r>
              <a:rPr lang="ru-RU" sz="2400" dirty="0"/>
              <a:t>мы будем их):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Производная функции потерь по весам: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8B06EB-215E-07C5-4915-3AC5D4E9C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707" y="2473893"/>
            <a:ext cx="4372585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731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B20B-C768-FBB4-D9B8-AC151F90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5349B-6A02-67CE-556A-E9711AEC1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38647" cy="1325563"/>
          </a:xfrm>
        </p:spPr>
        <p:txBody>
          <a:bodyPr/>
          <a:lstStyle/>
          <a:p>
            <a:r>
              <a:rPr lang="ru-RU" dirty="0"/>
              <a:t>Градиентный спуск для линейной регрессии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602D9A6A-8BC9-6B71-8B08-9E84D609AB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D50C8097-0596-6F37-ADCE-88A2B2880A00}"/>
              </a:ext>
            </a:extLst>
          </p:cNvPr>
          <p:cNvSpPr txBox="1">
            <a:spLocks/>
          </p:cNvSpPr>
          <p:nvPr/>
        </p:nvSpPr>
        <p:spPr>
          <a:xfrm>
            <a:off x="838200" y="1598091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Пошагово возьмем производную </a:t>
            </a:r>
            <a:r>
              <a:rPr lang="ru-RU" sz="2400" dirty="0" err="1"/>
              <a:t>лосса</a:t>
            </a:r>
            <a:r>
              <a:rPr lang="ru-RU" sz="2400" dirty="0"/>
              <a:t> по параметрам: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0A337E-9CA5-E845-45B0-B434E912C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845" y="2102154"/>
            <a:ext cx="4488310" cy="379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118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AF2D2-A826-6CA7-E1E2-70BAAA663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EDE1E-2902-A7E9-2BB0-C488DBFB3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4859" cy="1325563"/>
          </a:xfrm>
        </p:spPr>
        <p:txBody>
          <a:bodyPr/>
          <a:lstStyle/>
          <a:p>
            <a:r>
              <a:rPr lang="ru-RU" dirty="0"/>
              <a:t>Градиентный спуск для линейной регрессии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B5CB12AA-2BA3-9170-D4CB-269B2ACD4D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4DDD155F-4202-A902-FBD0-488740537DF0}"/>
              </a:ext>
            </a:extLst>
          </p:cNvPr>
          <p:cNvSpPr txBox="1">
            <a:spLocks/>
          </p:cNvSpPr>
          <p:nvPr/>
        </p:nvSpPr>
        <p:spPr>
          <a:xfrm>
            <a:off x="838200" y="1598091"/>
            <a:ext cx="10412506" cy="4184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Функция потерь (она зависит только от весов, потому что изменять </a:t>
            </a:r>
            <a:br>
              <a:rPr lang="ru-RU" sz="2400" dirty="0"/>
            </a:br>
            <a:r>
              <a:rPr lang="ru-RU" sz="2400" dirty="0"/>
              <a:t>мы будем их):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Производная функции потерь по весам: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EE865A-7962-93E3-4E09-CDEDC0F6E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707" y="2473893"/>
            <a:ext cx="4372585" cy="122889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DAA901-3C01-D602-AAE1-5978D4E4E1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939"/>
          <a:stretch>
            <a:fillRect/>
          </a:stretch>
        </p:blipFill>
        <p:spPr>
          <a:xfrm>
            <a:off x="3500075" y="4654036"/>
            <a:ext cx="519185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165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5FCB4-67F3-4C49-515E-9F548819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C0F68-C19B-B3D5-066E-E5B17540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5235" cy="1325563"/>
          </a:xfrm>
        </p:spPr>
        <p:txBody>
          <a:bodyPr/>
          <a:lstStyle/>
          <a:p>
            <a:r>
              <a:rPr lang="ru-RU" dirty="0"/>
              <a:t>Градиентный спуск для линейной регрессии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1DA1DB84-7F9B-9376-DB6F-36039C964F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68BAFB73-9A86-7903-42D0-106DC04ABCA4}"/>
              </a:ext>
            </a:extLst>
          </p:cNvPr>
          <p:cNvSpPr txBox="1">
            <a:spLocks/>
          </p:cNvSpPr>
          <p:nvPr/>
        </p:nvSpPr>
        <p:spPr>
          <a:xfrm>
            <a:off x="838200" y="1598091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Будем минимизировать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A171F11-02C9-81D7-5D5F-EF21EBF6C0E1}"/>
              </a:ext>
            </a:extLst>
          </p:cNvPr>
          <p:cNvSpPr txBox="1">
            <a:spLocks/>
          </p:cNvSpPr>
          <p:nvPr/>
        </p:nvSpPr>
        <p:spPr>
          <a:xfrm>
            <a:off x="834971" y="3711309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arenR"/>
            </a:pPr>
            <a:r>
              <a:rPr lang="ru-RU" sz="2400" dirty="0"/>
              <a:t>Выбираем начальные веса.</a:t>
            </a:r>
          </a:p>
          <a:p>
            <a:pPr marL="457200" indent="-457200">
              <a:buAutoNum type="arabicParenR"/>
            </a:pPr>
            <a:r>
              <a:rPr lang="ru-RU" sz="2400" dirty="0"/>
              <a:t>Производим обновления: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A33A39-AFF1-5F29-C0BD-95E7F3FAE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954" y="2111423"/>
            <a:ext cx="4106092" cy="119496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0A297E2-63B4-13B4-9F3C-41CABFC38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547" y="4788768"/>
            <a:ext cx="7382905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449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34BC0-84A5-3320-80C4-D0D79BFBD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D38AA1-6A4A-0D16-6BBC-525E14BC8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44200" cy="1325563"/>
          </a:xfrm>
        </p:spPr>
        <p:txBody>
          <a:bodyPr/>
          <a:lstStyle/>
          <a:p>
            <a:r>
              <a:rPr lang="ru-RU" dirty="0"/>
              <a:t>Градиентный спуск для логистической регрессии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E1462085-40CB-76A4-1566-626707CDE1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AE3922F8-1A47-F051-14A8-E51F8BA544BD}"/>
              </a:ext>
            </a:extLst>
          </p:cNvPr>
          <p:cNvSpPr txBox="1">
            <a:spLocks/>
          </p:cNvSpPr>
          <p:nvPr/>
        </p:nvSpPr>
        <p:spPr>
          <a:xfrm>
            <a:off x="838200" y="1885069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Функция потерь: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FBED09-01DD-8064-AAAE-EBDC2AFD6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791" y="2499785"/>
            <a:ext cx="7460418" cy="257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634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A9E39-FA1B-D7E2-9E52-AFB292C73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0B3D4F-4F85-CA2F-7FB7-6EA215005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44200" cy="1325563"/>
          </a:xfrm>
        </p:spPr>
        <p:txBody>
          <a:bodyPr/>
          <a:lstStyle/>
          <a:p>
            <a:r>
              <a:rPr lang="ru-RU" dirty="0"/>
              <a:t>Градиентный спуск для логистической регрессии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9DFD8E4A-6FE8-567A-F6A3-6D26C13E5D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33CECEFD-A806-549D-2B8D-01BE459B4152}"/>
              </a:ext>
            </a:extLst>
          </p:cNvPr>
          <p:cNvSpPr txBox="1">
            <a:spLocks/>
          </p:cNvSpPr>
          <p:nvPr/>
        </p:nvSpPr>
        <p:spPr>
          <a:xfrm>
            <a:off x="838200" y="1885069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Возьмем производную: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8626E9-5968-A361-3E4B-D626A217C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882" y="2285420"/>
            <a:ext cx="6874236" cy="2119000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C739D7DE-78D6-18A7-EFF0-E6193509C2C2}"/>
              </a:ext>
            </a:extLst>
          </p:cNvPr>
          <p:cNvSpPr txBox="1">
            <a:spLocks/>
          </p:cNvSpPr>
          <p:nvPr/>
        </p:nvSpPr>
        <p:spPr>
          <a:xfrm>
            <a:off x="676835" y="4404420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Соединим: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01051E9-F245-2718-9D3B-FF667C009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7329" y="4828781"/>
            <a:ext cx="6977341" cy="113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518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18CF-F820-DEF2-BE3E-837A0D99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34108-21EC-C6EF-9BC9-51C2DFD04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/>
              <a:t>Регуляризация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1A2303DC-212E-E7E5-BCD2-FEAFE93B1A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4063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DB94C-5AF4-253A-2572-77A6EE084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025C0-1A45-9772-3337-67A4AFBC4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44200" cy="1325563"/>
          </a:xfrm>
        </p:spPr>
        <p:txBody>
          <a:bodyPr/>
          <a:lstStyle/>
          <a:p>
            <a:r>
              <a:rPr lang="ru-RU" dirty="0" err="1"/>
              <a:t>Мультиколлинеарность</a:t>
            </a:r>
            <a:r>
              <a:rPr lang="ru-RU" dirty="0"/>
              <a:t> для линейной регрессии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C3D6EA3F-D3FC-215A-AFD5-D0F016971F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E5AA3BD6-BB62-D8F7-C679-C0C3892EE597}"/>
              </a:ext>
            </a:extLst>
          </p:cNvPr>
          <p:cNvSpPr txBox="1">
            <a:spLocks/>
          </p:cNvSpPr>
          <p:nvPr/>
        </p:nvSpPr>
        <p:spPr>
          <a:xfrm>
            <a:off x="838200" y="1885069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Вспомним определение линейной регрессии: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F1DCF9-99EB-2856-CA71-BF2B77B7D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873" y="2336906"/>
            <a:ext cx="4267796" cy="1162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63337D7C-F93F-6ACD-8AD5-513C9438BE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624749"/>
                <a:ext cx="10515600" cy="13481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400" dirty="0"/>
                  <a:t>Если столбцы матрицы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линейно зависимы, то существуют такие коэффициенты</a:t>
                </a:r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63337D7C-F93F-6ACD-8AD5-513C9438B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624749"/>
                <a:ext cx="10515600" cy="1348183"/>
              </a:xfrm>
              <a:prstGeom prst="rect">
                <a:avLst/>
              </a:prstGeom>
              <a:blipFill>
                <a:blip r:embed="rId4"/>
                <a:stretch>
                  <a:fillRect l="-928" t="-63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2BA1B04-FFBB-CD05-E143-F234B87E5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4244" y="3989547"/>
            <a:ext cx="4420217" cy="447737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1CF7214B-9CB5-8860-A865-63BE526FFE55}"/>
              </a:ext>
            </a:extLst>
          </p:cNvPr>
          <p:cNvSpPr txBox="1">
            <a:spLocks/>
          </p:cNvSpPr>
          <p:nvPr/>
        </p:nvSpPr>
        <p:spPr>
          <a:xfrm>
            <a:off x="838200" y="4566665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Но тогда существует бесконечное количество весов, дающих одинаковые предсказания: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16FEF04-7EA9-508F-7B73-197EBB13B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361" y="5379200"/>
            <a:ext cx="8502820" cy="58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828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31722-3082-4804-89BC-21BC41701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88B0E-9A5A-6E3D-6C98-D9F197F75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44200" cy="1325563"/>
          </a:xfrm>
        </p:spPr>
        <p:txBody>
          <a:bodyPr/>
          <a:lstStyle/>
          <a:p>
            <a:r>
              <a:rPr lang="en-US" dirty="0"/>
              <a:t>Weight Decay</a:t>
            </a:r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FB869C44-60D3-0E8D-50DD-B2DC71ACAF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ED70D0B0-9E66-2A80-902A-FE2431EC438E}"/>
              </a:ext>
            </a:extLst>
          </p:cNvPr>
          <p:cNvSpPr txBox="1">
            <a:spLocks/>
          </p:cNvSpPr>
          <p:nvPr/>
        </p:nvSpPr>
        <p:spPr>
          <a:xfrm>
            <a:off x="838200" y="1885069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Мы можем предположить, что веса не должны быть большими по модулю.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Изменим функцию потерь, чтобы отражать это ( </a:t>
            </a:r>
            <a:r>
              <a:rPr lang="el-GR" sz="2400" dirty="0"/>
              <a:t>β</a:t>
            </a:r>
            <a:r>
              <a:rPr lang="ru-RU" sz="2400" dirty="0"/>
              <a:t> - некоторая константа):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214150-7CD2-7D8F-B436-DA5305B467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2500" y="3427633"/>
                <a:ext cx="10515600" cy="13481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/>
                  <a:t>-регуляризация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214150-7CD2-7D8F-B436-DA5305B46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3427633"/>
                <a:ext cx="10515600" cy="1348183"/>
              </a:xfrm>
              <a:prstGeom prst="rect">
                <a:avLst/>
              </a:prstGeom>
              <a:blipFill>
                <a:blip r:embed="rId3"/>
                <a:stretch>
                  <a:fillRect l="-116" t="-63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DD7B7E9-5A64-272F-A9A8-137825A10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644" y="3562161"/>
            <a:ext cx="5029312" cy="1072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Объект 2">
                <a:extLst>
                  <a:ext uri="{FF2B5EF4-FFF2-40B4-BE49-F238E27FC236}">
                    <a16:creationId xmlns:a16="http://schemas.microsoft.com/office/drawing/2014/main" id="{DC9A4DCA-A9FC-1E2A-CC01-D5A53CC237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2500" y="4768928"/>
                <a:ext cx="10515600" cy="13481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/>
                  <a:t>-регуляризация</a:t>
                </a:r>
              </a:p>
            </p:txBody>
          </p:sp>
        </mc:Choice>
        <mc:Fallback xmlns="">
          <p:sp>
            <p:nvSpPr>
              <p:cNvPr id="14" name="Объект 2">
                <a:extLst>
                  <a:ext uri="{FF2B5EF4-FFF2-40B4-BE49-F238E27FC236}">
                    <a16:creationId xmlns:a16="http://schemas.microsoft.com/office/drawing/2014/main" id="{DC9A4DCA-A9FC-1E2A-CC01-D5A53CC23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4768928"/>
                <a:ext cx="10515600" cy="1348183"/>
              </a:xfrm>
              <a:prstGeom prst="rect">
                <a:avLst/>
              </a:prstGeom>
              <a:blipFill>
                <a:blip r:embed="rId5"/>
                <a:stretch>
                  <a:fillRect l="-116" t="-63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974DF48-C712-9696-0B0B-426FB8BDD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5644" y="4940353"/>
            <a:ext cx="5224912" cy="103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416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B7D34-ECEC-2619-92D1-81C502BB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C9996-7D9B-5D90-AE85-780855AAF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44200" cy="1325563"/>
          </a:xfrm>
        </p:spPr>
        <p:txBody>
          <a:bodyPr/>
          <a:lstStyle/>
          <a:p>
            <a:r>
              <a:rPr lang="ru-RU" dirty="0"/>
              <a:t>Как изменится градиент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B8A66052-DAFF-73DF-1770-47C5704500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02FE6BE8-0016-151D-BA24-86AEA80A4B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1841" y="1762865"/>
                <a:ext cx="10515600" cy="13481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400" dirty="0"/>
                  <a:t>-регуляризация</a:t>
                </a:r>
              </a:p>
            </p:txBody>
          </p:sp>
        </mc:Choice>
        <mc:Fallback xmlns="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02FE6BE8-0016-151D-BA24-86AEA80A4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41" y="1762865"/>
                <a:ext cx="10515600" cy="1348183"/>
              </a:xfrm>
              <a:prstGeom prst="rect">
                <a:avLst/>
              </a:prstGeom>
              <a:blipFill>
                <a:blip r:embed="rId3"/>
                <a:stretch>
                  <a:fillRect l="-116" t="-63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B6696E9A-0DB8-55F3-160F-C1611E01B4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1841" y="3890387"/>
                <a:ext cx="10515600" cy="13481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400" dirty="0"/>
                  <a:t>-регуляризация</a:t>
                </a:r>
              </a:p>
            </p:txBody>
          </p:sp>
        </mc:Choice>
        <mc:Fallback xmlns="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B6696E9A-0DB8-55F3-160F-C1611E01B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41" y="3890387"/>
                <a:ext cx="10515600" cy="1348183"/>
              </a:xfrm>
              <a:prstGeom prst="rect">
                <a:avLst/>
              </a:prstGeom>
              <a:blipFill>
                <a:blip r:embed="rId4"/>
                <a:stretch>
                  <a:fillRect l="-116" t="-63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83D1C80-B278-6397-31F6-923545106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784" y="2232266"/>
            <a:ext cx="6668431" cy="151468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396449E-3296-4E77-7991-A645FA614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6889" y="4322222"/>
            <a:ext cx="7678222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57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52423-BDAE-06DD-A6FC-FC19A29A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86DFA-A921-52B9-B6BE-AE9BCE029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/>
              <a:t>Нормализация признаков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7462DEE0-0F57-750E-94C0-B97F49A3EE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2902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9CCF-DC10-D59F-6765-285F6BC2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BF83F-F109-D057-CDC8-EE7ED7803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44200" cy="1325563"/>
          </a:xfrm>
        </p:spPr>
        <p:txBody>
          <a:bodyPr/>
          <a:lstStyle/>
          <a:p>
            <a:r>
              <a:rPr lang="ru-RU" dirty="0"/>
              <a:t>Что такое нормализация?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AFCD8D88-D1A7-B429-6D3E-515AF8364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161DF62D-6A22-642E-5CDE-6A3A3078819F}"/>
              </a:ext>
            </a:extLst>
          </p:cNvPr>
          <p:cNvSpPr txBox="1">
            <a:spLocks/>
          </p:cNvSpPr>
          <p:nvPr/>
        </p:nvSpPr>
        <p:spPr>
          <a:xfrm>
            <a:off x="838200" y="1885069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Мы изменяем признаки в датасете по правилу: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89FFFE-B170-B9EC-BC9B-59FFF2090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287" y="2312426"/>
            <a:ext cx="3229426" cy="1181265"/>
          </a:xfrm>
          <a:prstGeom prst="rect">
            <a:avLst/>
          </a:prstGeom>
        </p:spPr>
      </p:pic>
      <p:sp>
        <p:nvSpPr>
          <p:cNvPr id="14" name="Объект 2">
            <a:extLst>
              <a:ext uri="{FF2B5EF4-FFF2-40B4-BE49-F238E27FC236}">
                <a16:creationId xmlns:a16="http://schemas.microsoft.com/office/drawing/2014/main" id="{235D9F7F-5BF4-4FE8-4A21-887E63C5C1C1}"/>
              </a:ext>
            </a:extLst>
          </p:cNvPr>
          <p:cNvSpPr txBox="1">
            <a:spLocks/>
          </p:cNvSpPr>
          <p:nvPr/>
        </p:nvSpPr>
        <p:spPr>
          <a:xfrm>
            <a:off x="1314516" y="3960308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- среднее значение j-го признака в обучающей выборке 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2468F7F-B751-F0F7-B9B8-C28CD2A27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60308"/>
            <a:ext cx="476316" cy="419158"/>
          </a:xfrm>
          <a:prstGeom prst="rect">
            <a:avLst/>
          </a:prstGeom>
        </p:spPr>
      </p:pic>
      <p:sp>
        <p:nvSpPr>
          <p:cNvPr id="17" name="Объект 2">
            <a:extLst>
              <a:ext uri="{FF2B5EF4-FFF2-40B4-BE49-F238E27FC236}">
                <a16:creationId xmlns:a16="http://schemas.microsoft.com/office/drawing/2014/main" id="{DE3EB0C8-8596-58C1-9E14-E267AD9128E6}"/>
              </a:ext>
            </a:extLst>
          </p:cNvPr>
          <p:cNvSpPr txBox="1">
            <a:spLocks/>
          </p:cNvSpPr>
          <p:nvPr/>
        </p:nvSpPr>
        <p:spPr>
          <a:xfrm>
            <a:off x="1314516" y="4573847"/>
            <a:ext cx="10515600" cy="134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- среднее значение j-го признака в обучающей выборке 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3006CA0-7222-6EAA-E119-294ECBD44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13" y="4611592"/>
            <a:ext cx="447737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675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D703B-4DF6-A5D0-0000-DD36BE86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5C4FEE-D5F9-6070-C1FC-DC14B528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Градиентный спуск и другие методы плохо работают на признаках с очень большим или маленьким масштабом.</a:t>
            </a:r>
          </a:p>
          <a:p>
            <a:r>
              <a:rPr lang="ru-RU" dirty="0"/>
              <a:t>Разный масштаб весов вредит регуляризации. </a:t>
            </a:r>
          </a:p>
          <a:p>
            <a:r>
              <a:rPr lang="ru-RU" dirty="0"/>
              <a:t>Для нормированных данных веса говорят о важности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26823292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4EAB8-C269-7740-B4B5-BB47C97C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4C8EC-0142-B764-EE25-96EF7C32C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8272CDB5-EC00-B452-ACCC-9AFEE8E1D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17"/>
          <a:stretch/>
        </p:blipFill>
        <p:spPr bwMode="auto">
          <a:xfrm>
            <a:off x="-6458" y="6176964"/>
            <a:ext cx="12198458" cy="6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C9B2686-7901-A51B-BD98-AF95B9333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69706" cy="6774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04EC27-DF3F-D600-35BE-A92B971E1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0" t="1177" r="130" b="53"/>
          <a:stretch>
            <a:fillRect/>
          </a:stretch>
        </p:blipFill>
        <p:spPr>
          <a:xfrm>
            <a:off x="2651582" y="42155"/>
            <a:ext cx="6882377" cy="677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041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973</Words>
  <Application>Microsoft Office PowerPoint</Application>
  <PresentationFormat>Широкоэкранный</PresentationFormat>
  <Paragraphs>168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Тема Office</vt:lpstr>
      <vt:lpstr>Машинное обучение и нейронные сети</vt:lpstr>
      <vt:lpstr>Почему линейные модели всё ещё актуальны?</vt:lpstr>
      <vt:lpstr>Почему линейные модели всё ещё актуальны?</vt:lpstr>
      <vt:lpstr>Линейная регрессия</vt:lpstr>
      <vt:lpstr>Постановка задачи</vt:lpstr>
      <vt:lpstr>Определение модели</vt:lpstr>
      <vt:lpstr>Линейность по параметрам</vt:lpstr>
      <vt:lpstr>Пример</vt:lpstr>
      <vt:lpstr>Точное решение</vt:lpstr>
      <vt:lpstr>Точное решение</vt:lpstr>
      <vt:lpstr>Псевдо-обратная</vt:lpstr>
      <vt:lpstr>Получение решения через производную</vt:lpstr>
      <vt:lpstr>Получение решения через производную</vt:lpstr>
      <vt:lpstr>Обучение классификаторов</vt:lpstr>
      <vt:lpstr>Постановка задачи</vt:lpstr>
      <vt:lpstr>Вероятностная модель</vt:lpstr>
      <vt:lpstr>Вероятностная модель</vt:lpstr>
      <vt:lpstr>Обучение модели через максимальное правдоподобие</vt:lpstr>
      <vt:lpstr>Связь с минимизацией функции потерь</vt:lpstr>
      <vt:lpstr>Что мы сделали</vt:lpstr>
      <vt:lpstr>Логистическая регрессия</vt:lpstr>
      <vt:lpstr>Определение модели</vt:lpstr>
      <vt:lpstr>Предсказание вероятности</vt:lpstr>
      <vt:lpstr>Пример работы</vt:lpstr>
      <vt:lpstr>Обучение логистической регрессии</vt:lpstr>
      <vt:lpstr>Обобщение на много классов</vt:lpstr>
      <vt:lpstr>Пример работы Softmax</vt:lpstr>
      <vt:lpstr>Много классов</vt:lpstr>
      <vt:lpstr>Градиентный спуск</vt:lpstr>
      <vt:lpstr>Обучение логистической регрессии</vt:lpstr>
      <vt:lpstr>Эвристика градиентного спуска</vt:lpstr>
      <vt:lpstr>Градиентный спуск формализация</vt:lpstr>
      <vt:lpstr>Шаг градиентного спуска</vt:lpstr>
      <vt:lpstr>Градиентный спуск</vt:lpstr>
      <vt:lpstr>Градиентный спуск для параболы</vt:lpstr>
      <vt:lpstr>Градиентный спуск для линейной регрессии</vt:lpstr>
      <vt:lpstr>Градиентный спуск для линейной регрессии</vt:lpstr>
      <vt:lpstr>Градиентный спуск для линейной регрессии</vt:lpstr>
      <vt:lpstr>Градиентный спуск для линейной регрессии</vt:lpstr>
      <vt:lpstr>Градиентный спуск для логистической регрессии</vt:lpstr>
      <vt:lpstr>Градиентный спуск для логистической регрессии</vt:lpstr>
      <vt:lpstr>Регуляризация</vt:lpstr>
      <vt:lpstr>Мультиколлинеарность для линейной регрессии</vt:lpstr>
      <vt:lpstr>Weight Decay</vt:lpstr>
      <vt:lpstr>Как изменится градиент</vt:lpstr>
      <vt:lpstr>Нормализация признаков</vt:lpstr>
      <vt:lpstr>Что такое нормализация?</vt:lpstr>
      <vt:lpstr>Зачем?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Николай Нефедьев</dc:creator>
  <cp:lastModifiedBy>Николай Нефедьев</cp:lastModifiedBy>
  <cp:revision>131</cp:revision>
  <dcterms:created xsi:type="dcterms:W3CDTF">2026-09-08T19:14:07Z</dcterms:created>
  <dcterms:modified xsi:type="dcterms:W3CDTF">2026-09-24T08:37:45Z</dcterms:modified>
</cp:coreProperties>
</file>