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359" r:id="rId3"/>
    <p:sldId id="310" r:id="rId4"/>
    <p:sldId id="311" r:id="rId5"/>
    <p:sldId id="360" r:id="rId6"/>
    <p:sldId id="361" r:id="rId7"/>
    <p:sldId id="362" r:id="rId8"/>
    <p:sldId id="363" r:id="rId9"/>
    <p:sldId id="367" r:id="rId10"/>
    <p:sldId id="368" r:id="rId11"/>
    <p:sldId id="364" r:id="rId12"/>
    <p:sldId id="369" r:id="rId13"/>
    <p:sldId id="365" r:id="rId14"/>
    <p:sldId id="366" r:id="rId15"/>
    <p:sldId id="322" r:id="rId16"/>
    <p:sldId id="370" r:id="rId17"/>
    <p:sldId id="371" r:id="rId18"/>
    <p:sldId id="372" r:id="rId19"/>
    <p:sldId id="373" r:id="rId20"/>
    <p:sldId id="374" r:id="rId21"/>
    <p:sldId id="321" r:id="rId22"/>
    <p:sldId id="375" r:id="rId23"/>
    <p:sldId id="380" r:id="rId24"/>
    <p:sldId id="376" r:id="rId25"/>
    <p:sldId id="377" r:id="rId26"/>
    <p:sldId id="378" r:id="rId27"/>
    <p:sldId id="379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95" r:id="rId37"/>
    <p:sldId id="389" r:id="rId38"/>
    <p:sldId id="390" r:id="rId39"/>
    <p:sldId id="391" r:id="rId40"/>
    <p:sldId id="392" r:id="rId41"/>
    <p:sldId id="393" r:id="rId42"/>
    <p:sldId id="394" r:id="rId43"/>
    <p:sldId id="396" r:id="rId44"/>
    <p:sldId id="397" r:id="rId45"/>
    <p:sldId id="398" r:id="rId46"/>
    <p:sldId id="303" r:id="rId47"/>
    <p:sldId id="399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E6434-266F-42E7-9CAE-CB33155AF69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32F29-D19B-4A2F-A692-94DE4E4746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95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91F0F-749A-4181-2BDB-44399BB32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A095B7-D72B-D43B-0F39-4853792B7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87F46F-2CDC-4091-B779-3455A733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6D2FF1-D0BD-2FBC-4356-2B608E4F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13B16-459B-0DDA-2723-620F1DAD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48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0DC29-6A25-0433-1E4E-9BDC5A82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4714BC-0CF7-4C8D-22D3-43F3059CA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B428A-A29F-AA2F-5CCE-E46FC116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C4AF19-7C2E-DE32-A791-385DBF9C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D0512A-E453-E3CF-6B6D-2140BA1F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86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AE56F-ECE2-1477-F629-1FC606EB8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248126-09A1-0514-52B7-9402D0B6E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65B377-E82E-881F-6673-104BC238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1E12E-20AC-A4EB-CECD-93854781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594C88-F632-80A0-0965-DD19D53F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86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94299-7CC9-59E2-728D-D6BA8AE7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3D7D4-69B9-AF1B-AB54-A6D1752C5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B34277-32A3-5777-8BD8-B861E7C1A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9A053C-944A-DD29-C9CD-8478BB37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355004-921F-1038-DEA3-CCA4AD8F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4E95A8-19BF-3711-99A4-D9B0300D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06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24195-6C32-02D5-4D53-29DE596B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2BA63-5A99-F958-0576-ACCC70099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1689E7-2368-E63A-9915-2E48B8F9B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8B6F9E-9ED4-E1A2-FAB2-D71ABDAC2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AE462A-8F11-0B66-2DAD-1D239E213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2F8CCC-77A5-0AD5-0936-BBED14B5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0BCE95-A4F3-40BC-3F18-472BCAAB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49D44EE-0681-5E30-44AF-B1A09A27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83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EAE10-BCD5-3E39-F657-4089A32C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CECCCB-4417-B21F-4933-7EA7702F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8C19BB-E0C4-F394-607D-2D0395A2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6A8059-205C-C314-09C4-9526A21D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5ADD25-57DF-68DD-1014-D372F55C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C2F20E-B180-1721-D9FB-F186C910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F3A870-34AE-18E4-DBCC-224FAA39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63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5C65D-10FA-99C0-77F0-7D353652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809F3-654C-F70A-6D75-29223BB3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D19D51-93E8-2219-1BA0-1291C824F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3DA8AC-482E-34C4-969C-4CCE5B5C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BC75B3-49AC-60B6-B493-E169A9CE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0612A9-9CEE-4CD2-154F-1DDC9F7E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927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5F85C-E059-827B-DD04-CC2741A1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637618-EAA2-7EB6-6734-374C8DB9B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E9844C-5433-94FB-829E-F8C9EC973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65CF51-4F7F-44F1-7CB0-9643AE5C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E31DBB-388F-5457-7C98-D006C1BB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D6963-3A66-46A1-2B7C-1E539C6A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61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83D24-126E-46A9-B288-BF973D64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248F19-049F-028B-2E64-CCBA70C8E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21DA74-7898-CB1D-1963-E2EBBBEE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5BC18-3E15-3F94-76D8-BAF8DF91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592BBC-4EA7-0032-3D05-AEC64922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25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1A41D1-72EA-91F3-C367-6F0FBF6E9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BFD8C6-CAB2-ED20-7474-CA9435FCF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76D30D-164A-FA3B-974D-CE66343D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5A6E8B-B0AC-DB12-8CED-B479E896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213B15-3D28-CE39-26A4-0906EBA5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6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EFBA0-C922-C6F7-F6FC-B89CF044F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A45B1-0387-B007-BA55-F0AE29E3E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BE9153-3DE1-F90F-BA13-0931BDED3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3A61D-580B-421A-80D2-2453415F045C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9FB53A-C4E8-608D-E1DD-9576177D5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5D5625-0217-C555-71AF-E6F83E318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78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2394F2A-9430-DEC5-7040-A8615223D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58" y="0"/>
            <a:ext cx="12198458" cy="685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67728-B597-2994-7C6A-8371B7265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519" y="154175"/>
            <a:ext cx="9144000" cy="238760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Машинное обучение и нейронные сети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D6A9FB-BF0F-572B-53AE-BF05689DC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766" y="2857968"/>
            <a:ext cx="9144000" cy="165576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Лекция </a:t>
            </a:r>
            <a:r>
              <a:rPr lang="en-US" sz="3600">
                <a:solidFill>
                  <a:schemeClr val="bg1"/>
                </a:solidFill>
              </a:rPr>
              <a:t>4</a:t>
            </a:r>
            <a:r>
              <a:rPr lang="ru-RU" sz="360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Решающие деревья и</a:t>
            </a:r>
          </a:p>
          <a:p>
            <a:r>
              <a:rPr lang="ru-RU" sz="3600" dirty="0">
                <a:solidFill>
                  <a:schemeClr val="bg1"/>
                </a:solidFill>
              </a:rPr>
              <a:t>композиции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246561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2BC0-5BC4-E443-36BA-DF953F3D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BCF3E-FBF9-E17C-7BBE-AABFD007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Вспомним: рассмотренные ранее алгоритмы машинного обучения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36F260B-7CBC-0B39-5F1D-A7A714DEA9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7">
            <a:extLst>
              <a:ext uri="{FF2B5EF4-FFF2-40B4-BE49-F238E27FC236}">
                <a16:creationId xmlns:a16="http://schemas.microsoft.com/office/drawing/2014/main" id="{AE8B80FC-0217-4D7B-83CE-203E725AE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Алгоритм ближайших соседей (</a:t>
            </a:r>
            <a:r>
              <a:rPr lang="en-US" sz="2400" dirty="0"/>
              <a:t>KNN)</a:t>
            </a:r>
            <a:endParaRPr lang="ru-RU" sz="2400" dirty="0"/>
          </a:p>
          <a:p>
            <a:r>
              <a:rPr lang="ru-RU" sz="2400" dirty="0"/>
              <a:t>Линейные алгоритмы</a:t>
            </a:r>
            <a:r>
              <a:rPr lang="en-US" sz="2400" dirty="0"/>
              <a:t> (</a:t>
            </a:r>
            <a:r>
              <a:rPr lang="ru-RU" sz="2400" dirty="0"/>
              <a:t>регрессии)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6060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C60F9-CA44-35B1-645B-1C1FF6AE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Решающие деревья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1CC107F-365B-BFFF-4482-26701B63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12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0E12-FE88-E7AB-407D-F3971DCA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E20CE-0F3C-4CB1-78DB-4A80C113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решающих правил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F76EEECB-CD9F-F0B9-8A89-9FE4FADA7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96D9F5C0-9782-6E85-32DA-54BFD78C7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Если в анкете указан домашний телефон и зарплата клиента &gt; $1000 и размер кредита &lt; $3000, то кредит выдать</a:t>
            </a:r>
          </a:p>
          <a:p>
            <a:r>
              <a:rPr lang="ru-RU" sz="2400" dirty="0"/>
              <a:t>Если возраст пациента &gt; 60 и пациент ранее перенёс инфаркт, то операцию не делать</a:t>
            </a:r>
          </a:p>
        </p:txBody>
      </p:sp>
    </p:spTree>
    <p:extLst>
      <p:ext uri="{BB962C8B-B14F-4D97-AF65-F5344CB8AC3E}">
        <p14:creationId xmlns:p14="http://schemas.microsoft.com/office/powerpoint/2010/main" val="36643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3162-C8B2-3894-7D1C-DF279D6B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50502-A00F-FB5B-AD9E-4B2D9F56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алгоритмы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D82417C6-77DE-FD6D-7B30-B76BE258E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10729981-1A3E-67E8-48BF-E40A7A345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Логический алгоритм — алгоритм, использующий логические закономерности 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93197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86242-6016-25A8-A5EA-A1FD8180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D9FDF-6EAF-0ECD-A575-A5C566A7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Решающие деревья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483689F-5BD4-5AAA-9B08-1D24A579E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974426EC-96D5-0290-F4FA-3C40532DD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 В каждой вершине дерева находится вопрос</a:t>
            </a:r>
          </a:p>
          <a:p>
            <a:r>
              <a:rPr lang="ru-RU" sz="2400" dirty="0"/>
              <a:t>В зависимости от ответа на вопрос, алгоритм направляется в нужную ветвь дерева</a:t>
            </a:r>
          </a:p>
          <a:p>
            <a:r>
              <a:rPr lang="ru-RU" sz="2400" dirty="0"/>
              <a:t>Листы дерева соответствуют решению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141917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02BE-E846-A994-54E6-211A55A4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AEE98-51B6-5AFB-3637-D812BBED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Решающие деревья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B80EFD7-0C5C-5AB1-8250-99DED59A20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7B31A778-57B1-CD55-B3AA-9555D5B6B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FC606FF-622A-4E9D-A566-E6CC5DAB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00" y="1825624"/>
            <a:ext cx="9717742" cy="37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73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2991-09A4-8BF9-9328-4412F7FD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7A9B9-5652-2A2F-EEB0-06BD326C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решающего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D9FAD5F-AC44-52AB-7692-DC68246466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DFA8FF7D-F577-C5F3-9E9F-BB2DFF8CC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Находимся в красной вершине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F18DF0-8BB2-F0B2-406F-38CB91F62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322" y="1947337"/>
            <a:ext cx="3248478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4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3B92-5B3A-A598-9643-21B37D22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EF6050-29A3-1C1E-F71C-4EBB5EED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73" y="1690688"/>
            <a:ext cx="4315427" cy="382958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4A675-76D0-E4A0-2EEF-3A0723AE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решающего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5FFF710-5CB5-A0E6-EF5A-0EBAC7C5C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D439AB0B-774C-0792-4357-CB55D193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Находимся в красной вершине</a:t>
            </a:r>
          </a:p>
          <a:p>
            <a:r>
              <a:rPr lang="ru-RU" sz="2400" dirty="0"/>
              <a:t>До красной вершины дошла часть</a:t>
            </a:r>
            <a:r>
              <a:rPr lang="en-US" sz="2400" dirty="0"/>
              <a:t> </a:t>
            </a:r>
            <a:r>
              <a:rPr lang="ru-RU" sz="2400" dirty="0"/>
              <a:t>объектов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ru-RU" sz="2400" dirty="0"/>
              <a:t>обучающей выборки </a:t>
            </a:r>
          </a:p>
          <a:p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C59C4F0-9633-0723-ED78-B98FE8076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23" y="3605480"/>
            <a:ext cx="7119710" cy="217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5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D2C0-8821-6122-D611-AAA7F6F8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146A7-E64D-E97F-0FAA-7E9BFA2A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решающего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F5DE270D-578C-BDA1-A756-64D983DAC9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130A6529-48F0-B9F7-6224-26ECD8F4C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Находимся в красной вершине</a:t>
            </a:r>
          </a:p>
          <a:p>
            <a:r>
              <a:rPr lang="ru-RU" sz="2400" dirty="0"/>
              <a:t>До красной вершины дошла часть объектов</a:t>
            </a:r>
            <a:br>
              <a:rPr lang="en-US" sz="2400" dirty="0"/>
            </a:br>
            <a:r>
              <a:rPr lang="ru-RU" sz="2400" dirty="0"/>
              <a:t>обучающей выборки</a:t>
            </a:r>
          </a:p>
          <a:p>
            <a:r>
              <a:rPr lang="ru-RU" sz="2400" dirty="0"/>
              <a:t>Находим решающее правило так, чтобы</a:t>
            </a:r>
            <a:br>
              <a:rPr lang="en-US" sz="2400" dirty="0"/>
            </a:br>
            <a:r>
              <a:rPr lang="ru-RU" sz="2400" dirty="0"/>
              <a:t>объекты, дошедшие до красной вершины,</a:t>
            </a:r>
            <a:br>
              <a:rPr lang="en-US" sz="2400" dirty="0"/>
            </a:br>
            <a:r>
              <a:rPr lang="ru-RU" sz="2400" dirty="0"/>
              <a:t>хорошо разделялись по искомым классам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09F385-CCD4-B02C-7930-4298DDC9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98"/>
          <a:stretch>
            <a:fillRect/>
          </a:stretch>
        </p:blipFill>
        <p:spPr>
          <a:xfrm>
            <a:off x="8087823" y="1066470"/>
            <a:ext cx="3996602" cy="47250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C11AED-3226-E35F-7CCA-298C13ABD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23" y="4136665"/>
            <a:ext cx="7119710" cy="217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9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1E39-690C-7562-CACB-74AFBD52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B32A7-55B3-9021-1B0C-B74B5840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решающего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D4861F0-6D73-CD68-8CF1-27456ABCA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B1D2724A-2500-2797-DD12-1A8A72586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Находимся в красной вершине</a:t>
            </a:r>
          </a:p>
          <a:p>
            <a:r>
              <a:rPr lang="ru-RU" sz="2400" dirty="0"/>
              <a:t>До красной вершины дошла часть объектов</a:t>
            </a:r>
            <a:br>
              <a:rPr lang="en-US" sz="2400" dirty="0"/>
            </a:br>
            <a:r>
              <a:rPr lang="ru-RU" sz="2400" dirty="0"/>
              <a:t>обучающей выборки</a:t>
            </a:r>
          </a:p>
          <a:p>
            <a:r>
              <a:rPr lang="ru-RU" sz="2400" dirty="0"/>
              <a:t>Находим решающее правило так, чтобы</a:t>
            </a:r>
            <a:br>
              <a:rPr lang="en-US" sz="2400" dirty="0"/>
            </a:br>
            <a:r>
              <a:rPr lang="ru-RU" sz="2400" dirty="0"/>
              <a:t>объекты, дошедшие до красной вершины,</a:t>
            </a:r>
            <a:br>
              <a:rPr lang="en-US" sz="2400" dirty="0"/>
            </a:br>
            <a:r>
              <a:rPr lang="ru-RU" sz="2400" dirty="0"/>
              <a:t>хорошо разделялись по искомым классам</a:t>
            </a:r>
          </a:p>
          <a:p>
            <a:r>
              <a:rPr lang="ru-RU" sz="2400" dirty="0"/>
              <a:t>Одна из нижних вершин стала терминальной</a:t>
            </a:r>
          </a:p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01291E-F76A-0235-765F-6DD4D1ECC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046"/>
          <a:stretch>
            <a:fillRect/>
          </a:stretch>
        </p:blipFill>
        <p:spPr>
          <a:xfrm>
            <a:off x="8135163" y="1536296"/>
            <a:ext cx="3976156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68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DA68-F033-6D0E-7C59-C1030A27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1574E-F369-D35E-4B53-8523176E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решающего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271C78F-C2BE-9C3D-216B-AAA91DB29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CE26E28D-5CE5-61C6-C565-E3EF9C0A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Находимся в красной вершине</a:t>
            </a:r>
          </a:p>
          <a:p>
            <a:r>
              <a:rPr lang="ru-RU" sz="2400" dirty="0"/>
              <a:t>До красной вершины дошла часть объектов</a:t>
            </a:r>
            <a:br>
              <a:rPr lang="en-US" sz="2400" dirty="0"/>
            </a:br>
            <a:r>
              <a:rPr lang="ru-RU" sz="2400" dirty="0"/>
              <a:t>обучающей выборки</a:t>
            </a:r>
          </a:p>
          <a:p>
            <a:r>
              <a:rPr lang="ru-RU" sz="2400" dirty="0"/>
              <a:t>Находим решающее правило так, чтобы</a:t>
            </a:r>
            <a:br>
              <a:rPr lang="en-US" sz="2400" dirty="0"/>
            </a:br>
            <a:r>
              <a:rPr lang="ru-RU" sz="2400" dirty="0"/>
              <a:t>объекты, дошедшие до красной вершины,</a:t>
            </a:r>
            <a:br>
              <a:rPr lang="en-US" sz="2400" dirty="0"/>
            </a:br>
            <a:r>
              <a:rPr lang="ru-RU" sz="2400" dirty="0"/>
              <a:t>хорошо разделялись по искомым классам</a:t>
            </a:r>
          </a:p>
          <a:p>
            <a:r>
              <a:rPr lang="ru-RU" sz="2400" dirty="0"/>
              <a:t>Одна из нижних вершин стала терминальной</a:t>
            </a:r>
          </a:p>
          <a:p>
            <a:r>
              <a:rPr lang="ru-RU" sz="2400" dirty="0"/>
              <a:t>Повторяем с другой вершиной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DC59CA-3840-D4FD-C396-9333A210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01"/>
          <a:stretch>
            <a:fillRect/>
          </a:stretch>
        </p:blipFill>
        <p:spPr>
          <a:xfrm>
            <a:off x="7663380" y="1657562"/>
            <a:ext cx="4109520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81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7656-B974-36DD-2209-664906DB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2F808-254A-85E0-C82D-0B38933A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выбрать критерий ветвления?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D45230D-1E3F-014B-03FC-613DCB168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AA8FD7EC-B994-8314-C87D-BFF1283DD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0C0FB9-CBD1-8197-E8F7-8DBBD2AE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48" y="1384196"/>
            <a:ext cx="10515600" cy="47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39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EBD9-6D69-9E72-84A5-FEA5AE36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9E80B-4C0F-D727-4D45-2A33816B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выбрать критерий ветвления? 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B2FC6C2-9867-1184-87C1-99D78BE211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4BE92F63-429F-0EF5-45CA-28941AC6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0141"/>
            <a:ext cx="10515600" cy="3166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Возможные функции H(q):</a:t>
            </a:r>
          </a:p>
          <a:p>
            <a:r>
              <a:rPr lang="ru-RU" sz="2400" dirty="0"/>
              <a:t>Энтропия: 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Индекс Джини:</a:t>
            </a:r>
          </a:p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77A8A9-757D-1BD8-FC54-101ECA38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2178"/>
            <a:ext cx="6181165" cy="9865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A5C3A7-A611-FC04-7C13-9A548FCA1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27" y="3993750"/>
            <a:ext cx="6373114" cy="6001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5FC25A-ECE4-0EB7-372D-9450E71CB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1" y="5313203"/>
            <a:ext cx="3105583" cy="55252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9CB913D-4448-EE1F-F2D5-E28682D7C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282" y="2924773"/>
            <a:ext cx="5160746" cy="316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09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24DD-886E-54FF-46A7-E27105EC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4A663-B4D1-74EE-7643-E0A61157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Решающее дерево для Ирисов Фишера 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293D900A-B87A-2711-38B7-3B49BDD71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131BD599-19B7-7343-29DB-E80362FB0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172"/>
            <a:ext cx="10515600" cy="909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Задача Фишера о классификации ирисов на три класса. В выборке по 50 объектов каждого класса, у каждого объекта 4 признака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92396D2-8343-C54C-8CEA-A635F7FA83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0"/>
          <a:stretch>
            <a:fillRect/>
          </a:stretch>
        </p:blipFill>
        <p:spPr>
          <a:xfrm>
            <a:off x="2055249" y="2299644"/>
            <a:ext cx="8081502" cy="2968243"/>
          </a:xfrm>
          <a:prstGeom prst="rect">
            <a:avLst/>
          </a:prstGeom>
        </p:spPr>
      </p:pic>
      <p:sp>
        <p:nvSpPr>
          <p:cNvPr id="14" name="Объект 6">
            <a:extLst>
              <a:ext uri="{FF2B5EF4-FFF2-40B4-BE49-F238E27FC236}">
                <a16:creationId xmlns:a16="http://schemas.microsoft.com/office/drawing/2014/main" id="{DFAD61BA-CEC4-B6FA-5A2A-488038D7F709}"/>
              </a:ext>
            </a:extLst>
          </p:cNvPr>
          <p:cNvSpPr txBox="1">
            <a:spLocks/>
          </p:cNvSpPr>
          <p:nvPr/>
        </p:nvSpPr>
        <p:spPr>
          <a:xfrm>
            <a:off x="838200" y="5267887"/>
            <a:ext cx="10515600" cy="90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 осях двух самых информативных признаков два класса разделились без ошибок, на третьем — три ошибки.</a:t>
            </a:r>
          </a:p>
        </p:txBody>
      </p:sp>
    </p:spTree>
    <p:extLst>
      <p:ext uri="{BB962C8B-B14F-4D97-AF65-F5344CB8AC3E}">
        <p14:creationId xmlns:p14="http://schemas.microsoft.com/office/powerpoint/2010/main" val="174316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3CB3-8C3E-B750-24BD-38872E3E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FA562-0A88-F2AD-014A-F2D0AB34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Недообучение</a:t>
            </a:r>
            <a:r>
              <a:rPr lang="ru-RU" dirty="0"/>
              <a:t> и переобучение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1C6A639-C5B9-489D-4BBD-3FD2879B44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8BB1A435-DCA0-0D82-539C-86F72DA2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0BFB91-87DA-B16B-CC72-7DA6559C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381" y="1403817"/>
            <a:ext cx="4901237" cy="459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8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E833F-F9FC-DD55-B0D2-D6DD2B6A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08853-0F45-B874-D83D-ECAA64F5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Недообучение</a:t>
            </a:r>
            <a:r>
              <a:rPr lang="ru-RU" dirty="0"/>
              <a:t> и переобучение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2CBC424C-28FE-BE50-AF6A-3D3380ED3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C447C9E2-FCF1-35E9-AED7-7FC8E65E7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6426" y="1611384"/>
            <a:ext cx="11244635" cy="425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48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283A-6583-57D5-E9DB-2263A0D9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B7C5E-B021-483A-244C-68048C92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решающего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7A2E65D-4D8C-C778-E6FE-A770711C99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0560C881-389A-8941-95B3-43237E914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Критерий ветвления (‘</a:t>
            </a:r>
            <a:r>
              <a:rPr lang="ru-RU" sz="2400" dirty="0" err="1"/>
              <a:t>gini</a:t>
            </a:r>
            <a:r>
              <a:rPr lang="ru-RU" sz="2400" dirty="0"/>
              <a:t>’, ‘</a:t>
            </a:r>
            <a:r>
              <a:rPr lang="ru-RU" sz="2400" dirty="0" err="1"/>
              <a:t>entropy</a:t>
            </a:r>
            <a:r>
              <a:rPr lang="ru-RU" sz="2400" dirty="0"/>
              <a:t>’)</a:t>
            </a:r>
          </a:p>
          <a:p>
            <a:r>
              <a:rPr lang="ru-RU" sz="2400" dirty="0"/>
              <a:t>Максимальная глубина</a:t>
            </a:r>
          </a:p>
          <a:p>
            <a:r>
              <a:rPr lang="ru-RU" sz="2400" dirty="0"/>
              <a:t>Минимальный размер листа</a:t>
            </a:r>
          </a:p>
          <a:p>
            <a:r>
              <a:rPr lang="ru-RU" sz="2400" dirty="0"/>
              <a:t>Стратегия сплита</a:t>
            </a:r>
          </a:p>
        </p:txBody>
      </p:sp>
    </p:spTree>
    <p:extLst>
      <p:ext uri="{BB962C8B-B14F-4D97-AF65-F5344CB8AC3E}">
        <p14:creationId xmlns:p14="http://schemas.microsoft.com/office/powerpoint/2010/main" val="3591842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8577-3957-EC45-9A54-98C39A4C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6625B-4C4D-5B70-4380-86562541D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Решающее дерево для регрессии 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7955C04-2FE5-09E1-650A-497CBE4D1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A28EA8CE-BA90-3FC3-D693-F88416946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В листах дерева вместо классов объектов находятся действительные числа</a:t>
            </a:r>
          </a:p>
          <a:p>
            <a:r>
              <a:rPr lang="ru-RU" sz="2400" dirty="0"/>
              <a:t>Количество ответов решающего дерева ограничено количеством листовых</a:t>
            </a:r>
            <a:r>
              <a:rPr lang="en-US" sz="2400" dirty="0"/>
              <a:t> </a:t>
            </a:r>
            <a:r>
              <a:rPr lang="ru-RU" sz="2400" dirty="0"/>
              <a:t>вершин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A58B7E-08AB-E16C-4B17-73A0CFEF7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89" y="2620413"/>
            <a:ext cx="4804763" cy="355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07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EE9D-A333-F8CB-6330-0A37D348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F484C-CD68-35FD-4812-B1B20706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Резюме: решающее дерево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B4C4252-B2B8-9AEB-7E6F-3275D3DEAE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6637C12C-A469-D107-9486-4D79E161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129"/>
            <a:ext cx="10515600" cy="4710112"/>
          </a:xfrm>
        </p:spPr>
        <p:txBody>
          <a:bodyPr>
            <a:normAutofit/>
          </a:bodyPr>
          <a:lstStyle/>
          <a:p>
            <a:r>
              <a:rPr lang="ru-RU" sz="2400" dirty="0"/>
              <a:t>Преимущества:</a:t>
            </a:r>
          </a:p>
          <a:p>
            <a:pPr marL="0" indent="0">
              <a:buNone/>
            </a:pPr>
            <a:r>
              <a:rPr lang="ru-RU" sz="2400" dirty="0"/>
              <a:t>Простая идея и алгоритм обучения</a:t>
            </a:r>
          </a:p>
          <a:p>
            <a:pPr marL="0" indent="0">
              <a:buNone/>
            </a:pPr>
            <a:r>
              <a:rPr lang="ru-RU" sz="2400" dirty="0"/>
              <a:t>Интерпретируемое</a:t>
            </a:r>
          </a:p>
          <a:p>
            <a:pPr marL="0" indent="0">
              <a:buNone/>
            </a:pPr>
            <a:r>
              <a:rPr lang="ru-RU" sz="2400" dirty="0"/>
              <a:t>Возможна регуляризация</a:t>
            </a:r>
          </a:p>
          <a:p>
            <a:pPr marL="0" indent="0">
              <a:buNone/>
            </a:pPr>
            <a:r>
              <a:rPr lang="ru-RU" sz="2400" dirty="0"/>
              <a:t>Обработка пропущенных значений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Недостатки:</a:t>
            </a:r>
          </a:p>
          <a:p>
            <a:pPr marL="0" indent="0">
              <a:buNone/>
            </a:pPr>
            <a:r>
              <a:rPr lang="ru-RU" sz="2400" dirty="0"/>
              <a:t>Переобучается</a:t>
            </a:r>
          </a:p>
          <a:p>
            <a:pPr marL="0" indent="0">
              <a:buNone/>
            </a:pPr>
            <a:r>
              <a:rPr lang="ru-RU" sz="2400" dirty="0"/>
              <a:t>Проблемы с регрессией</a:t>
            </a:r>
          </a:p>
          <a:p>
            <a:pPr marL="0" indent="0">
              <a:buNone/>
            </a:pPr>
            <a:r>
              <a:rPr lang="ru-RU" sz="2400" dirty="0"/>
              <a:t>Сильно меняется в зависимости от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2825687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A85A-7E6D-3AD1-2354-32D450EC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3FFB-6E13-ECCF-5C32-D5AF8849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Композиции алгоритмов</a:t>
            </a:r>
            <a:endParaRPr lang="ru-RU" sz="6000" b="1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9CF3FC1-0D92-1C1D-93AF-1BBAEF5B5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786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6E78A-3993-5B02-9801-87CCF086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BCE86-159C-99AF-8640-43D4C072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машинного обучения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FCF14E4E-FEBC-C46F-D5D2-86D6FE807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2A8B6543-AA84-1E69-B47D-044A690FD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Метод ближайших соседей</a:t>
            </a:r>
          </a:p>
          <a:p>
            <a:r>
              <a:rPr lang="ru-RU" sz="2400" dirty="0"/>
              <a:t>Линейные алгоритмы</a:t>
            </a:r>
          </a:p>
          <a:p>
            <a:r>
              <a:rPr lang="ru-RU" sz="2400" dirty="0"/>
              <a:t>Решающее дерево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88962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51949-90B9-B55E-7740-70F11F61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F0372-F2D5-2033-A465-B0190AB58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машинного обучения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2235F42-CEC9-E1AF-E8DD-C2D193395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4028BC6F-2CFB-582C-8F0B-0DA6C417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Метод ближайших соседей</a:t>
            </a:r>
          </a:p>
          <a:p>
            <a:r>
              <a:rPr lang="ru-RU" sz="2400" dirty="0"/>
              <a:t>Линейные алгоритмы</a:t>
            </a:r>
          </a:p>
          <a:p>
            <a:r>
              <a:rPr lang="ru-RU" sz="2400" dirty="0"/>
              <a:t>Решающее дерево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Идея: построение композиции алгоритмов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29952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AD9D-D615-C634-A2E3-E5BB5AC1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C012D-85AF-DE45-BBC8-DEF533AD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Кондорсе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C98E536-C563-FC61-EF37-0EAE8CFC7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9939938E-6A58-586B-616E-68BA1CE4F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064624" cy="4351338"/>
          </a:xfrm>
        </p:spPr>
        <p:txBody>
          <a:bodyPr>
            <a:normAutofit/>
          </a:bodyPr>
          <a:lstStyle/>
          <a:p>
            <a:r>
              <a:rPr lang="ru-RU" sz="2400" dirty="0"/>
              <a:t> Если вероятность правильного решения члена жюри больше 0.5, то вероятность правильного решения присяжных в целом возрастает с увеличением количества членов жюри и стремится к единице.</a:t>
            </a:r>
          </a:p>
          <a:p>
            <a:r>
              <a:rPr lang="ru-RU" sz="2400" dirty="0"/>
              <a:t>Если же вероятность быть правым меньше 0.5, то вероятность принятия правильного решения присяжными монотонно уменьшается и стремится к нулю с увеличением количества присяжных.</a:t>
            </a:r>
          </a:p>
          <a:p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7A3E40-8D0B-D615-50A7-EFAC8E03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861" y="1155804"/>
            <a:ext cx="3867690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36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3F28-BDA5-93A9-C70C-D300B22B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6F7B8-BC06-43A8-558F-DE90C71C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Фрэнсис Гальтон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73C644C-FE19-CDE2-F6E7-F0E3292BB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5E4D3420-1A0D-46DE-DA68-25C50D9A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962614-AD3F-A205-DBDC-EC2DE3D25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877" y="1641646"/>
            <a:ext cx="3753374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20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32D05-CF09-4ECA-D435-6A8DDFD1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AEA70-B2C1-844A-2A89-882E9B9B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 Гальтона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D4C0EEB-29DC-4D26-DD4D-413769ED7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32AC9955-FBF7-8748-1A2F-5CD95C85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100482" cy="4351338"/>
          </a:xfrm>
        </p:spPr>
        <p:txBody>
          <a:bodyPr>
            <a:normAutofit/>
          </a:bodyPr>
          <a:lstStyle/>
          <a:p>
            <a:r>
              <a:rPr lang="ru-RU" sz="2400" dirty="0"/>
              <a:t>Собралось около 800 человек, которые попытались угадать вес быка на ярмарке. Бык весил 1198 фунтов.</a:t>
            </a:r>
          </a:p>
          <a:p>
            <a:r>
              <a:rPr lang="ru-RU" sz="2400" dirty="0"/>
              <a:t>Ни один крестьянин не угадал точный вес быка</a:t>
            </a:r>
          </a:p>
          <a:p>
            <a:r>
              <a:rPr lang="ru-RU" sz="2400" dirty="0"/>
              <a:t>Среднее предсказание оказалось равным 1197 фунтов.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1FC44BC-5BCC-89B4-A638-DBA2A39C1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01753" y="1443132"/>
            <a:ext cx="4598894" cy="459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25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58AA-3B68-D660-7B1D-FD22D665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DDEEF-6244-3E75-E6C0-F5C15E0D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простого голосования 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C6D258F-7B63-A73B-0D90-E288478324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1D0C420C-AF59-EF76-4B44-96D801F306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несколько обученных алгоритмов</a:t>
                </a:r>
              </a:p>
              <a:p>
                <a:r>
                  <a:rPr lang="ru-RU" sz="2400" dirty="0"/>
                  <a:t>Классификация: относим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к классу, за который проголосовало </a:t>
                </a:r>
                <a:r>
                  <a:rPr lang="ru-RU" sz="2400" i="1" dirty="0"/>
                  <a:t>большинство</a:t>
                </a:r>
                <a:r>
                  <a:rPr lang="ru-RU" sz="2400" dirty="0"/>
                  <a:t>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b="0" dirty="0"/>
              </a:p>
              <a:p>
                <a:r>
                  <a:rPr lang="ru-RU" sz="2400" dirty="0"/>
                  <a:t>Регрессия: ответом является среднее значение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1D0C420C-AF59-EF76-4B44-96D801F30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770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F24D-918E-3A34-DAD4-EC4A74DC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7ECEC-BD56-E777-94B5-F613D231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Бутстреп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C4974FF-F3AB-F616-3D92-082D3DD73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11049760-66D8-5294-E15A-FB6DD85BD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6689" y="1529324"/>
            <a:ext cx="878529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37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61A4-E69D-B530-DF14-19FD6BC5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CF540-1A17-CBB5-0227-841BC53C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Бэггинг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E4B48CAE-0898-37C3-35DF-40A6C53F9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2899E782-CDAC-A9C9-CCA7-1EF3A222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679141" cy="4351338"/>
          </a:xfrm>
        </p:spPr>
        <p:txBody>
          <a:bodyPr>
            <a:normAutofit/>
          </a:bodyPr>
          <a:lstStyle/>
          <a:p>
            <a:r>
              <a:rPr lang="ru-RU" sz="2400" dirty="0" err="1"/>
              <a:t>Бэггинг</a:t>
            </a:r>
            <a:r>
              <a:rPr lang="ru-RU" sz="2400" dirty="0"/>
              <a:t> (</a:t>
            </a:r>
            <a:r>
              <a:rPr lang="ru-RU" sz="2400" dirty="0" err="1"/>
              <a:t>bagging</a:t>
            </a:r>
            <a:r>
              <a:rPr lang="ru-RU" sz="2400" dirty="0"/>
              <a:t>: </a:t>
            </a:r>
            <a:r>
              <a:rPr lang="ru-RU" sz="2400" dirty="0" err="1"/>
              <a:t>bootstrap</a:t>
            </a:r>
            <a:r>
              <a:rPr lang="ru-RU" sz="2400" dirty="0"/>
              <a:t> </a:t>
            </a:r>
            <a:r>
              <a:rPr lang="ru-RU" sz="2400" dirty="0" err="1"/>
              <a:t>aggregation</a:t>
            </a:r>
            <a:r>
              <a:rPr lang="ru-RU" sz="2400" dirty="0"/>
              <a:t>) — принцип построения композиции, основанный на простом голосовании</a:t>
            </a:r>
          </a:p>
          <a:p>
            <a:r>
              <a:rPr lang="ru-RU" sz="2400" dirty="0"/>
              <a:t>100 деревьев</a:t>
            </a:r>
          </a:p>
          <a:p>
            <a:r>
              <a:rPr lang="ru-RU" sz="2400" dirty="0" err="1"/>
              <a:t>Бутстрепная</a:t>
            </a:r>
            <a:r>
              <a:rPr lang="ru-RU" sz="2400" dirty="0"/>
              <a:t> выборка для каждого дерева</a:t>
            </a:r>
          </a:p>
          <a:p>
            <a:r>
              <a:rPr lang="ru-RU" sz="2400" dirty="0"/>
              <a:t>Финальное решение принимается простым голосованием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824AD-ACDC-626B-EC7E-142500A0B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527" y="1533338"/>
            <a:ext cx="5524320" cy="407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14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7C4F-45E8-AAF6-B300-9884D004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D12CB-5B4E-13ED-AC3A-77E82609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Случайный лес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7C1E6E5-9165-CC7F-3101-B4E5D2D29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A2AFE72D-298A-D04A-B884-E5BCF279F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6123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Случайный лес — </a:t>
            </a:r>
            <a:r>
              <a:rPr lang="ru-RU" sz="2400" dirty="0" err="1"/>
              <a:t>бэггинг</a:t>
            </a:r>
            <a:r>
              <a:rPr lang="ru-RU" sz="2400" dirty="0"/>
              <a:t> над решающими деревьями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3957CD-EB33-6AFC-3845-41F454C2E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461" y="1825626"/>
            <a:ext cx="4432872" cy="41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17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1AD6-9115-6424-BF41-BDA9C7CA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9688C-572C-B487-91B8-86F4636A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Cлучайный</a:t>
            </a:r>
            <a:r>
              <a:rPr lang="ru-RU" dirty="0"/>
              <a:t> лес и решающее дерево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E940169-B6FA-AEC5-468D-8BCB9DD881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BD63185B-CC04-338E-0D5A-EC0626F3D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5057" y="1690688"/>
            <a:ext cx="993087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62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A6A6A-A1C0-4248-51C1-DC10E62B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09C37-BEF1-A846-712A-8E6C1ABB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случайного леса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4599187-610D-D1AA-8E97-D5D3C8DC66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69AF6F52-0BCA-2430-1F41-31BB6A88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Слишком долгое и громоздкое вычисление</a:t>
            </a:r>
          </a:p>
          <a:p>
            <a:r>
              <a:rPr lang="ru-RU" sz="2400" dirty="0"/>
              <a:t>В индустрии стараются обойтись без композиций</a:t>
            </a:r>
          </a:p>
          <a:p>
            <a:r>
              <a:rPr lang="ru-RU" sz="2400" dirty="0"/>
              <a:t>Тем не менее, вычисления можно проводить параллельно</a:t>
            </a:r>
          </a:p>
        </p:txBody>
      </p:sp>
    </p:spTree>
    <p:extLst>
      <p:ext uri="{BB962C8B-B14F-4D97-AF65-F5344CB8AC3E}">
        <p14:creationId xmlns:p14="http://schemas.microsoft.com/office/powerpoint/2010/main" val="461638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54DE-24FA-EEC9-42C6-0C9F8DF4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58B33F-FA9B-97B0-92D5-99A4AFCF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Стекинг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96B06AB-CDC4-AF45-CF56-3D900AF99C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FFE2D30F-E8A4-C4F8-5546-8573FDB8D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23807A-64BA-0769-95EE-08A9D7254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91" y="1690688"/>
            <a:ext cx="8849960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65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F557-78EC-D42E-9986-F006A54A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6B1BD-575E-A5DE-042E-AE945326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Бустинг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33130E1-EC9B-5D8A-1BC0-8E6FED8F4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958B8F10-6CEE-BA04-DBB2-F6AE58D11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Строим алгоритмы последовательно</a:t>
            </a:r>
          </a:p>
          <a:p>
            <a:r>
              <a:rPr lang="ru-RU" sz="2400" dirty="0"/>
              <a:t>Каждый следующий алгоритм компенсирует ошибку всех предыдущих</a:t>
            </a:r>
          </a:p>
          <a:p>
            <a:r>
              <a:rPr lang="ru-RU" sz="2400" dirty="0"/>
              <a:t>Принимаем решение взвешенным голосованием:</a:t>
            </a:r>
          </a:p>
          <a:p>
            <a:endParaRPr lang="ru-RU" sz="2400" dirty="0"/>
          </a:p>
          <a:p>
            <a:endParaRPr lang="ru-RU" sz="2400" dirty="0"/>
          </a:p>
          <a:p>
            <a:r>
              <a:rPr lang="ru-RU" sz="2400" dirty="0"/>
              <a:t>Сильный метод </a:t>
            </a:r>
            <a:r>
              <a:rPr lang="ru-RU" sz="2400" dirty="0" err="1"/>
              <a:t>бустинга</a:t>
            </a:r>
            <a:r>
              <a:rPr lang="ru-RU" sz="2400" dirty="0"/>
              <a:t> — градиентный </a:t>
            </a:r>
            <a:r>
              <a:rPr lang="ru-RU" sz="2400" dirty="0" err="1"/>
              <a:t>бустинг</a:t>
            </a:r>
            <a:r>
              <a:rPr lang="ru-RU" sz="2400" dirty="0"/>
              <a:t> над решающими деревьями</a:t>
            </a:r>
          </a:p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C1DCE4-F8CE-489F-CD15-61E582CC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00" y="3228093"/>
            <a:ext cx="6620799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E355-E7DC-2E24-7519-F695897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FBA19-F74E-D7C8-2962-CE783136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Резюме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B6E2160-CAA5-D9BC-82DC-58A80E887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40E044E8-F5BE-F334-6E50-0DDF226A2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 err="1"/>
              <a:t>Бэггинг</a:t>
            </a:r>
            <a:r>
              <a:rPr lang="ru-RU" sz="2400" dirty="0"/>
              <a:t>, </a:t>
            </a:r>
            <a:r>
              <a:rPr lang="ru-RU" sz="2400" dirty="0" err="1"/>
              <a:t>стекинг</a:t>
            </a:r>
            <a:r>
              <a:rPr lang="ru-RU" sz="2400" dirty="0"/>
              <a:t> и </a:t>
            </a:r>
            <a:r>
              <a:rPr lang="ru-RU" sz="2400" dirty="0" err="1"/>
              <a:t>бустинг</a:t>
            </a:r>
            <a:r>
              <a:rPr lang="ru-RU" sz="2400" dirty="0"/>
              <a:t> используют принцип композиции</a:t>
            </a:r>
          </a:p>
          <a:p>
            <a:r>
              <a:rPr lang="ru-RU" sz="2400" dirty="0" err="1"/>
              <a:t>Бэггинг</a:t>
            </a:r>
            <a:r>
              <a:rPr lang="ru-RU" sz="2400" dirty="0"/>
              <a:t> принимает решение простым голосованием</a:t>
            </a:r>
          </a:p>
          <a:p>
            <a:r>
              <a:rPr lang="ru-RU" sz="2400" dirty="0" err="1"/>
              <a:t>Стекинг</a:t>
            </a:r>
            <a:r>
              <a:rPr lang="ru-RU" sz="2400" dirty="0"/>
              <a:t> обучает </a:t>
            </a:r>
            <a:r>
              <a:rPr lang="ru-RU" sz="2400" dirty="0" err="1"/>
              <a:t>метаалгоритм</a:t>
            </a:r>
            <a:r>
              <a:rPr lang="ru-RU" sz="2400" dirty="0"/>
              <a:t> над разноплановыми алгоритмами</a:t>
            </a:r>
          </a:p>
          <a:p>
            <a:r>
              <a:rPr lang="ru-RU" sz="2400" dirty="0" err="1"/>
              <a:t>Бустинг</a:t>
            </a:r>
            <a:r>
              <a:rPr lang="ru-RU" sz="2400" dirty="0"/>
              <a:t> строит базовые модели, компенсирующие ошибки предыдущих</a:t>
            </a:r>
          </a:p>
        </p:txBody>
      </p:sp>
    </p:spTree>
    <p:extLst>
      <p:ext uri="{BB962C8B-B14F-4D97-AF65-F5344CB8AC3E}">
        <p14:creationId xmlns:p14="http://schemas.microsoft.com/office/powerpoint/2010/main" val="427601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C43B-6EEE-DEA1-3ED5-00BE43E9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79D17-6A43-DAED-CF00-EAD02EF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Градиентный </a:t>
            </a:r>
            <a:r>
              <a:rPr lang="ru-RU" sz="6000" dirty="0" err="1"/>
              <a:t>бустинг</a:t>
            </a:r>
            <a:endParaRPr lang="ru-RU" sz="6000" b="1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2E2C832-96D3-4033-69C3-5479DDAC3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766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E1402-97E2-A50D-5FD3-22D66ABF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8EFF2-B1E7-F2A7-50E2-3A161637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</a:t>
            </a:r>
            <a:r>
              <a:rPr lang="ru-RU" dirty="0" err="1"/>
              <a:t>бустинг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E007155-C4AC-C05D-2B15-565F5FFB83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8D08CF65-751C-2FEC-793D-27B438598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Градиентный </a:t>
            </a:r>
            <a:r>
              <a:rPr lang="ru-RU" sz="2400" dirty="0" err="1"/>
              <a:t>бустинг</a:t>
            </a:r>
            <a:r>
              <a:rPr lang="ru-RU" sz="2400" dirty="0"/>
              <a:t> — эффективный способ построения композиции решающих деревьев</a:t>
            </a:r>
          </a:p>
          <a:p>
            <a:r>
              <a:rPr lang="ru-RU" sz="2400" dirty="0"/>
              <a:t>Деревья строятся последовательно</a:t>
            </a:r>
          </a:p>
          <a:p>
            <a:r>
              <a:rPr lang="ru-RU" sz="2400" dirty="0"/>
              <a:t>Каждое следующее дерево стремится компенсировать ошибку уже построенных</a:t>
            </a:r>
          </a:p>
          <a:p>
            <a:r>
              <a:rPr lang="ru-RU" sz="2400" dirty="0"/>
              <a:t>Решение затем принимается взвешенным голосованием: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74448A-68A2-AA32-8BC8-AE9BDAFEC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337" y="4319469"/>
            <a:ext cx="7173326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19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3D65A-573D-1F0C-4D20-E35789CA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43CDF-C693-D1E7-4FA7-55CE8DD5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Вспомним: градиентный спуск 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9E1146AE-5A3C-DB81-7834-9D3BF7434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18E82F1F-5205-4652-E399-9331AAC60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/>
                  <a:t>Минимизируем функцию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dirty="0"/>
              </a:p>
              <a:p>
                <a:r>
                  <a:rPr lang="ru-RU" sz="2400" dirty="0"/>
                  <a:t>Выбираем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400" dirty="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— начальное приближение</a:t>
                </a:r>
              </a:p>
              <a:p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sub>
                    </m:sSub>
                  </m:oMath>
                </a14:m>
                <a:r>
                  <a:rPr lang="ru-RU" sz="2400" dirty="0"/>
                  <a:t> — текущая найденная точка</a:t>
                </a:r>
              </a:p>
              <a:p>
                <a:r>
                  <a:rPr lang="ru-RU" sz="2400" dirty="0"/>
                  <a:t>Вычисляем градиент (производную)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dirty="0"/>
              </a:p>
              <a:p>
                <a:r>
                  <a:rPr lang="ru-RU" sz="2400" dirty="0"/>
                  <a:t>Вычисляем следующее приближение: </a:t>
                </a:r>
              </a:p>
            </p:txBody>
          </p:sp>
        </mc:Choice>
        <mc:Fallback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18E82F1F-5205-4652-E399-9331AAC60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E50215-E972-87C8-E3D9-2EF7A9E3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699" y="4069924"/>
            <a:ext cx="3477110" cy="762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7B1049-1502-FCF7-2BF4-F62D95D11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310" y="1906309"/>
            <a:ext cx="4620435" cy="353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138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96B4F-54FF-AA69-9DE7-5A569F75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34924-CC93-B36B-68D2-9BA0F5FF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C41736D-B911-663B-659F-E23FDB049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A2C5F8BD-0CF3-1AB2-385B-F3C57BE71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Имеем: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ru-RU" sz="2400" dirty="0"/>
                  <a:t>                                                         - обучающая выборка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2400" dirty="0"/>
                  <a:t>                                                        - целевая переменная (действительное число)      </a:t>
                </a:r>
              </a:p>
              <a:p>
                <a:pPr marL="0" indent="0">
                  <a:buNone/>
                </a:pPr>
                <a:r>
                  <a:rPr lang="ru-RU" sz="2400" dirty="0"/>
                  <a:t>Цель: построить алгоритм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, оптимизирующий функцию потерь</a:t>
                </a:r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Пример: квадратичная функция потерь</a:t>
                </a:r>
              </a:p>
            </p:txBody>
          </p:sp>
        </mc:Choice>
        <mc:Fallback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A2C5F8BD-0CF3-1AB2-385B-F3C57BE71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754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31CB67-A4E0-9E3B-91B4-F83D48F49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60" y="2017859"/>
            <a:ext cx="3686689" cy="581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72A0AF-37E3-3BB1-87A3-0A4BCD355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585" y="2805623"/>
            <a:ext cx="3458058" cy="5715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2CBC12-960F-969E-83B5-DB11C9091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144" y="3835114"/>
            <a:ext cx="4020111" cy="8478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67CD9C-186A-3FD6-EFD3-1B4C2EF3B9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8892" y="5102222"/>
            <a:ext cx="333421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87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8F68-1E72-28E2-413C-2A2F3955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CD7CC-6179-4D7B-5E98-B777F623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композиции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01296F85-0F98-3860-951A-3F5D72E9DF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43B08B69-9D8E-51BF-566D-246F9E005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/>
                  <a:t>Пусть уже построены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/>
                  <a:t>, а также константы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ru-RU" sz="2400" dirty="0"/>
              </a:p>
              <a:p>
                <a:r>
                  <a:rPr lang="ru-RU" sz="2400" dirty="0"/>
                  <a:t>Хотим построить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400" dirty="0"/>
              </a:p>
              <a:p>
                <a:r>
                  <a:rPr lang="ru-RU" sz="2400" dirty="0"/>
                  <a:t>Запишем функцию потерь для одного объекта</a:t>
                </a:r>
              </a:p>
              <a:p>
                <a:endParaRPr lang="ru-RU" sz="2400" dirty="0"/>
              </a:p>
            </p:txBody>
          </p:sp>
        </mc:Choice>
        <mc:Fallback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43B08B69-9D8E-51BF-566D-246F9E005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B710E3-10E7-71D7-557C-B3999B0F1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276" y="3000860"/>
            <a:ext cx="8010990" cy="310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905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148E-8D4D-FC0D-0E48-1FB41593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34650-28A4-B3C3-E041-79881561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очередного дерева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77AEE0A-6E9B-C812-8ADE-078196EB8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2CE263DA-3CD7-EA07-5B90-F5B5EB1C2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828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/>
              <a:t>Для одного объекта</a:t>
            </a:r>
            <a:r>
              <a:rPr lang="ru-RU" sz="2400" dirty="0"/>
              <a:t>: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ru-RU" sz="2400" i="1" dirty="0"/>
              <a:t>Для нескольких объектов</a:t>
            </a:r>
            <a:r>
              <a:rPr lang="ru-RU" sz="2400" dirty="0"/>
              <a:t>: решаем новую задачу машинного обучения, где </a:t>
            </a:r>
            <a:br>
              <a:rPr lang="en-US" sz="2400" dirty="0"/>
            </a:br>
            <a:r>
              <a:rPr lang="ru-RU" sz="2400" dirty="0"/>
              <a:t>k+1-ое дерево “настраивается” по направлению</a:t>
            </a:r>
            <a:r>
              <a:rPr lang="ru-RU" sz="2400" i="1" dirty="0"/>
              <a:t> антиградиента функции потерь</a:t>
            </a:r>
          </a:p>
          <a:p>
            <a:pPr marL="0" indent="0">
              <a:buNone/>
            </a:pPr>
            <a:r>
              <a:rPr lang="ru-RU" sz="2400" dirty="0"/>
              <a:t>Константа в </a:t>
            </a:r>
            <a:r>
              <a:rPr lang="ru-RU" sz="2400" dirty="0" err="1"/>
              <a:t>бустинге</a:t>
            </a:r>
            <a:r>
              <a:rPr lang="ru-RU" sz="2400" dirty="0"/>
              <a:t> выбирается так же, как и в градиентном спуске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207C45-456C-EA3D-3B99-07396C688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811"/>
          <a:stretch>
            <a:fillRect/>
          </a:stretch>
        </p:blipFill>
        <p:spPr>
          <a:xfrm>
            <a:off x="1709125" y="2124635"/>
            <a:ext cx="8773749" cy="1003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DB9E1-A26F-5774-8B9F-028DEBC7B67D}"/>
              </a:ext>
            </a:extLst>
          </p:cNvPr>
          <p:cNvSpPr txBox="1"/>
          <p:nvPr/>
        </p:nvSpPr>
        <p:spPr>
          <a:xfrm>
            <a:off x="5927911" y="3128216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новая целевая переменная</a:t>
            </a:r>
          </a:p>
        </p:txBody>
      </p:sp>
    </p:spTree>
    <p:extLst>
      <p:ext uri="{BB962C8B-B14F-4D97-AF65-F5344CB8AC3E}">
        <p14:creationId xmlns:p14="http://schemas.microsoft.com/office/powerpoint/2010/main" val="11943852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9E1E-49F3-162F-14C0-AA6DB73F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E1C3E-F8A1-189B-FFE6-F96AB483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</a:t>
            </a:r>
            <a:r>
              <a:rPr lang="ru-RU" dirty="0" err="1"/>
              <a:t>бустинг</a:t>
            </a:r>
            <a:r>
              <a:rPr lang="ru-RU" dirty="0"/>
              <a:t> для </a:t>
            </a:r>
            <a:r>
              <a:rPr lang="en-US" dirty="0"/>
              <a:t>MSE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E7F45A6F-463A-388F-61E5-398DDD0BF5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E8056865-49B6-DFDC-B371-C9919AEDE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518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Антиградиент функции потерь для MSE: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ru-RU" sz="2400" b="1" dirty="0"/>
              <a:t>Вывод</a:t>
            </a:r>
            <a:r>
              <a:rPr lang="ru-RU" sz="2400" dirty="0"/>
              <a:t>. В случае MSE алгоритм градиентного </a:t>
            </a:r>
            <a:r>
              <a:rPr lang="ru-RU" sz="2400" dirty="0" err="1"/>
              <a:t>бустинга</a:t>
            </a:r>
            <a:r>
              <a:rPr lang="ru-RU" sz="2400" dirty="0"/>
              <a:t> настраивается на</a:t>
            </a:r>
            <a:r>
              <a:rPr lang="en-US" sz="2400" dirty="0"/>
              <a:t> </a:t>
            </a:r>
            <a:r>
              <a:rPr lang="ru-RU" sz="2400" i="1" dirty="0"/>
              <a:t>разность ответа и текущего приближения</a:t>
            </a:r>
            <a:r>
              <a:rPr lang="ru-RU" sz="2400" dirty="0"/>
              <a:t>: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781D55-EE78-BABE-0DCC-8689CD44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1" y="2057230"/>
            <a:ext cx="10802858" cy="24387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6249544-A79F-57DF-E77E-6F3E0BE69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731" y="5257508"/>
            <a:ext cx="7792537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322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096C-91DA-A7C2-FC7E-3BABF74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0AD86-41E8-656E-8CC7-3949EE83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</a:t>
            </a:r>
            <a:r>
              <a:rPr lang="ru-RU" dirty="0" err="1"/>
              <a:t>бустинг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E29C5FF-30B4-95D3-BC8A-E38912A95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00F353F8-BBAE-EB1A-C5E9-29897D143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Базовые алгоритмы должны быть простыми и быстро обучаемыми</a:t>
            </a:r>
          </a:p>
          <a:p>
            <a:r>
              <a:rPr lang="ru-RU" sz="2400" dirty="0"/>
              <a:t>Часто в качестве базовых алгоритмов используются решающие деревья</a:t>
            </a:r>
          </a:p>
          <a:p>
            <a:r>
              <a:rPr lang="ru-RU" sz="2400" dirty="0"/>
              <a:t>Реализации градиентного </a:t>
            </a:r>
            <a:r>
              <a:rPr lang="ru-RU" sz="2400" dirty="0" err="1"/>
              <a:t>бустинга</a:t>
            </a:r>
            <a:r>
              <a:rPr lang="ru-RU" sz="2400" dirty="0"/>
              <a:t> над решающими деревьями: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354F42-E5CE-F284-4137-5CB0F537C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77" y="3294901"/>
            <a:ext cx="10874188" cy="166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96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3E3C-B4F1-43BE-AB16-7C594101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5EE7A-698A-CFDE-1BAA-75AAC0D9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Бустинг</a:t>
            </a:r>
            <a:r>
              <a:rPr lang="ru-RU" dirty="0"/>
              <a:t>: качество от итерации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1C4616E-99F3-73CA-C29E-E0109842C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521467EF-FBD0-855A-4AF1-654B73904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776875-F21E-9246-FC82-3CA7D539A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37" y="1825626"/>
            <a:ext cx="10892267" cy="380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192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D70C-1F4C-BB4D-604B-19995FEE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17322-76D5-8258-802E-28FE7209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Бустинг</a:t>
            </a:r>
            <a:r>
              <a:rPr lang="ru-RU" dirty="0"/>
              <a:t>: преимущества и недостатки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005DBAF-45F2-488E-B036-7299F4BCE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26"/>
          <a:stretch>
            <a:fillRect/>
          </a:stretch>
        </p:blipFill>
        <p:spPr bwMode="auto">
          <a:xfrm>
            <a:off x="-6458" y="6492874"/>
            <a:ext cx="12198458" cy="36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D5E69789-8E14-452B-0EC1-D5F94224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353"/>
            <a:ext cx="10515600" cy="4554071"/>
          </a:xfrm>
        </p:spPr>
        <p:txBody>
          <a:bodyPr>
            <a:noAutofit/>
          </a:bodyPr>
          <a:lstStyle/>
          <a:p>
            <a:r>
              <a:rPr lang="ru-RU" sz="2400" dirty="0"/>
              <a:t>Преимущества: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Позволяет очень точно восстанавливать искомую функцию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Почти не переобучается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По сравнению со случайным лесом, способен компенсировать систематическую</a:t>
            </a:r>
            <a:r>
              <a:rPr lang="en-US" dirty="0"/>
              <a:t> </a:t>
            </a:r>
            <a:r>
              <a:rPr lang="ru-RU" dirty="0"/>
              <a:t>ошибку каждого из базовых алгоритмов, а не накапливает их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Работает с произвольной функцией потерь в задаче классификации, регрессии,</a:t>
            </a:r>
            <a:r>
              <a:rPr lang="en-US" dirty="0"/>
              <a:t> </a:t>
            </a:r>
            <a:r>
              <a:rPr lang="ru-RU" dirty="0"/>
              <a:t>ранжирования, ...</a:t>
            </a:r>
          </a:p>
          <a:p>
            <a:r>
              <a:rPr lang="ru-RU" sz="2400" dirty="0"/>
              <a:t>Недостатки: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Медленный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Плохо интерпретируемый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Переобучение на выбросах при избыточном количестве алгоритмов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Нужна довольно большая обучающая выборка</a:t>
            </a:r>
          </a:p>
        </p:txBody>
      </p:sp>
    </p:spTree>
    <p:extLst>
      <p:ext uri="{BB962C8B-B14F-4D97-AF65-F5344CB8AC3E}">
        <p14:creationId xmlns:p14="http://schemas.microsoft.com/office/powerpoint/2010/main" val="1205796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4EAB8-C269-7740-B4B5-BB47C97C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4C8EC-0142-B764-EE25-96EF7C32C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272CDB5-EC00-B452-ACCC-9AFEE8E1D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C9B2686-7901-A51B-BD98-AF95B933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69706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EA774C95-1216-96D7-0CC4-16BCF1089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6" y="493620"/>
            <a:ext cx="11537576" cy="560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8041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7376-44C9-AB3F-28AC-F1396D74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3451A-7495-A912-04EB-4A351BED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914B4A22-F8A6-6D89-DBE7-7AF80166B5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B3EDFCB-959D-18C6-AA1D-D39348D34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69706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CDEA95-5721-CF44-5DE2-F99B854F5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18" y="923575"/>
            <a:ext cx="4401164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810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981</Words>
  <Application>Microsoft Office PowerPoint</Application>
  <PresentationFormat>Широкоэкранный</PresentationFormat>
  <Paragraphs>175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Courier New</vt:lpstr>
      <vt:lpstr>Тема Office</vt:lpstr>
      <vt:lpstr>Машинное обучение и нейронные сети</vt:lpstr>
      <vt:lpstr>Вспомним: рассмотренные ранее алгоритмы машинного обучения</vt:lpstr>
      <vt:lpstr>Решающие деревья</vt:lpstr>
      <vt:lpstr>Примеры решающих правил</vt:lpstr>
      <vt:lpstr>Логические алгоритмы</vt:lpstr>
      <vt:lpstr>Решающие деревья</vt:lpstr>
      <vt:lpstr>Решающие деревья</vt:lpstr>
      <vt:lpstr>Обучение решающего дерева</vt:lpstr>
      <vt:lpstr>Обучение решающего дерева</vt:lpstr>
      <vt:lpstr>Обучение решающего дерева</vt:lpstr>
      <vt:lpstr>Обучение решающего дерева</vt:lpstr>
      <vt:lpstr>Обучение решающего дерева</vt:lpstr>
      <vt:lpstr>Как выбрать критерий ветвления?</vt:lpstr>
      <vt:lpstr>Как выбрать критерий ветвления? </vt:lpstr>
      <vt:lpstr>Решающее дерево для Ирисов Фишера </vt:lpstr>
      <vt:lpstr>Недообучение и переобучение</vt:lpstr>
      <vt:lpstr>Недообучение и переобучение</vt:lpstr>
      <vt:lpstr>Параметры решающего дерева</vt:lpstr>
      <vt:lpstr>Решающее дерево для регрессии </vt:lpstr>
      <vt:lpstr>Резюме: решающее дерево</vt:lpstr>
      <vt:lpstr>Композиции алгоритмов</vt:lpstr>
      <vt:lpstr>Алгоритмы машинного обучения</vt:lpstr>
      <vt:lpstr>Алгоритмы машинного обучения</vt:lpstr>
      <vt:lpstr>Принцип Кондорсе</vt:lpstr>
      <vt:lpstr>Фрэнсис Гальтон</vt:lpstr>
      <vt:lpstr>Эксперимент Гальтона</vt:lpstr>
      <vt:lpstr>Метод простого голосования </vt:lpstr>
      <vt:lpstr>Бутстреп</vt:lpstr>
      <vt:lpstr>Бэггинг</vt:lpstr>
      <vt:lpstr>Случайный лес</vt:lpstr>
      <vt:lpstr>Cлучайный лес и решающее дерево</vt:lpstr>
      <vt:lpstr>Недостатки случайного леса</vt:lpstr>
      <vt:lpstr>Стекинг</vt:lpstr>
      <vt:lpstr>Бустинг</vt:lpstr>
      <vt:lpstr>Резюме</vt:lpstr>
      <vt:lpstr>Градиентный бустинг</vt:lpstr>
      <vt:lpstr>Градиентный бустинг</vt:lpstr>
      <vt:lpstr>Вспомним: градиентный спуск </vt:lpstr>
      <vt:lpstr>Постановка задачи</vt:lpstr>
      <vt:lpstr>Построение композиции</vt:lpstr>
      <vt:lpstr>Построение очередного дерева</vt:lpstr>
      <vt:lpstr>Градиентный бустинг для MSE</vt:lpstr>
      <vt:lpstr>Градиентный бустинг</vt:lpstr>
      <vt:lpstr>Бустинг: качество от итерации</vt:lpstr>
      <vt:lpstr>Бустинг: преимущества и недостатки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Нефедьев</dc:creator>
  <cp:lastModifiedBy>Николай Нефедьев</cp:lastModifiedBy>
  <cp:revision>190</cp:revision>
  <dcterms:created xsi:type="dcterms:W3CDTF">2026-09-08T19:14:07Z</dcterms:created>
  <dcterms:modified xsi:type="dcterms:W3CDTF">2026-10-07T21:37:23Z</dcterms:modified>
</cp:coreProperties>
</file>