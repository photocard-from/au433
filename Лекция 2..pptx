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9" r:id="rId3"/>
    <p:sldId id="263" r:id="rId4"/>
    <p:sldId id="282" r:id="rId5"/>
    <p:sldId id="284" r:id="rId6"/>
    <p:sldId id="278" r:id="rId7"/>
    <p:sldId id="289"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4" r:id="rId21"/>
    <p:sldId id="305" r:id="rId22"/>
    <p:sldId id="310" r:id="rId23"/>
    <p:sldId id="309" r:id="rId24"/>
    <p:sldId id="306" r:id="rId25"/>
    <p:sldId id="312" r:id="rId26"/>
    <p:sldId id="313" r:id="rId27"/>
    <p:sldId id="314" r:id="rId28"/>
    <p:sldId id="303" r:id="rId2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1E6434-266F-42E7-9CAE-CB33155AF69F}" type="datetimeFigureOut">
              <a:rPr lang="ru-RU" smtClean="0"/>
              <a:t>17.09.2026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32F29-D19B-4A2F-A692-94DE4E4746F5}" type="slidenum">
              <a:rPr lang="ru-RU" smtClean="0"/>
              <a:t>‹#›</a:t>
            </a:fld>
            <a:endParaRPr lang="ru-RU"/>
          </a:p>
        </p:txBody>
      </p:sp>
    </p:spTree>
    <p:extLst>
      <p:ext uri="{BB962C8B-B14F-4D97-AF65-F5344CB8AC3E}">
        <p14:creationId xmlns:p14="http://schemas.microsoft.com/office/powerpoint/2010/main" val="3151953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0F432F29-D19B-4A2F-A692-94DE4E4746F5}" type="slidenum">
              <a:rPr lang="ru-RU" smtClean="0"/>
              <a:t>8</a:t>
            </a:fld>
            <a:endParaRPr lang="ru-RU"/>
          </a:p>
        </p:txBody>
      </p:sp>
    </p:spTree>
    <p:extLst>
      <p:ext uri="{BB962C8B-B14F-4D97-AF65-F5344CB8AC3E}">
        <p14:creationId xmlns:p14="http://schemas.microsoft.com/office/powerpoint/2010/main" val="2561226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A91F0F-749A-4181-2BDB-44399BB32CB9}"/>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D4A095B7-D72B-D43B-0F39-4853792B7B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AF87F46F-2CDC-4091-B779-3455A7333661}"/>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5" name="Нижний колонтитул 4">
            <a:extLst>
              <a:ext uri="{FF2B5EF4-FFF2-40B4-BE49-F238E27FC236}">
                <a16:creationId xmlns:a16="http://schemas.microsoft.com/office/drawing/2014/main" id="{C66D2FF1-D0BD-2FBC-4356-2B608E4FFA4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9813B16-459B-0DDA-2723-620F1DADB690}"/>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2610480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30DC29-6A25-0433-1E4E-9BDC5A8286A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24714BC-0CF7-4C8D-22D3-43F3059CAF21}"/>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58B428A-A29F-AA2F-5CCE-E46FC116BD64}"/>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5" name="Нижний колонтитул 4">
            <a:extLst>
              <a:ext uri="{FF2B5EF4-FFF2-40B4-BE49-F238E27FC236}">
                <a16:creationId xmlns:a16="http://schemas.microsoft.com/office/drawing/2014/main" id="{96C4AF19-7C2E-DE32-A791-385DBF9CF9E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BD0512A-E453-E3CF-6B6D-2140BA1FF6E4}"/>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1503868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3AE56F-ECE2-1477-F629-1FC606EB8906}"/>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1248126-09A1-0514-52B7-9402D0B6E6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1465B377-E82E-881F-6673-104BC238977D}"/>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5" name="Нижний колонтитул 4">
            <a:extLst>
              <a:ext uri="{FF2B5EF4-FFF2-40B4-BE49-F238E27FC236}">
                <a16:creationId xmlns:a16="http://schemas.microsoft.com/office/drawing/2014/main" id="{2241E12E-20AC-A4EB-CECD-93854781AD5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A594C88-F632-80A0-0965-DD19D53FCA6E}"/>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4292860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E94299-7CC9-59E2-728D-D6BA8AE712E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283D7D4-69B9-AF1B-AB54-A6D1752C5EF3}"/>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8DB34277-32A3-5777-8BD8-B861E7C1AF83}"/>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B69A053C-944A-DD29-C9CD-8478BB373102}"/>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6" name="Нижний колонтитул 5">
            <a:extLst>
              <a:ext uri="{FF2B5EF4-FFF2-40B4-BE49-F238E27FC236}">
                <a16:creationId xmlns:a16="http://schemas.microsoft.com/office/drawing/2014/main" id="{D1355004-921F-1038-DEA3-CCA4AD8F819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74E95A8-19BF-3711-99A4-D9B0300DA476}"/>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3821065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824195-6C32-02D5-4D53-29DE596B8740}"/>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5BB2BA63-5A99-F958-0576-ACCC70099F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F1689E7-2368-E63A-9915-2E48B8F9BF53}"/>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078B6F9E-9ED4-E1A2-FAB2-D71ABDAC21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AEAE462A-8F11-0B66-2DAD-1D239E213D90}"/>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82F8CCC-77A5-0AD5-0936-BBED14B59F68}"/>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8" name="Нижний колонтитул 7">
            <a:extLst>
              <a:ext uri="{FF2B5EF4-FFF2-40B4-BE49-F238E27FC236}">
                <a16:creationId xmlns:a16="http://schemas.microsoft.com/office/drawing/2014/main" id="{FB0BCE95-A4F3-40BC-3F18-472BCAABFA3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F49D44EE-0681-5E30-44AF-B1A09A2706F3}"/>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3988834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6EAE10-BCD5-3E39-F657-4089A32CB93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DACECCCB-4417-B21F-4933-7EA7702FA122}"/>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4" name="Нижний колонтитул 3">
            <a:extLst>
              <a:ext uri="{FF2B5EF4-FFF2-40B4-BE49-F238E27FC236}">
                <a16:creationId xmlns:a16="http://schemas.microsoft.com/office/drawing/2014/main" id="{888C19BB-E0C4-F394-607D-2D0395A211B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F6A8059-205C-C314-09C4-9526A21D51DF}"/>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424120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FD5ADD25-57DF-68DD-1014-D372F55CAB82}"/>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3" name="Нижний колонтитул 2">
            <a:extLst>
              <a:ext uri="{FF2B5EF4-FFF2-40B4-BE49-F238E27FC236}">
                <a16:creationId xmlns:a16="http://schemas.microsoft.com/office/drawing/2014/main" id="{FBC2F20E-B180-1721-D9FB-F186C9109453}"/>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80F3A870-34AE-18E4-DBCC-224FAA394A53}"/>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3062633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65C65D-10FA-99C0-77F0-7D353652712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14F809F3-654C-F70A-6D75-29223BB366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B6D19D51-93E8-2219-1BA0-1291C824F8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63DA8AC-482E-34C4-969C-4CCE5B5CC9FF}"/>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6" name="Нижний колонтитул 5">
            <a:extLst>
              <a:ext uri="{FF2B5EF4-FFF2-40B4-BE49-F238E27FC236}">
                <a16:creationId xmlns:a16="http://schemas.microsoft.com/office/drawing/2014/main" id="{6ABC75B3-49AC-60B6-B493-E169A9CE55B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B0612A9-9CEE-4CD2-154F-1DDC9F7E74A7}"/>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956927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65F85C-E059-827B-DD04-CC2741A1B3F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08637618-EAA2-7EB6-6734-374C8DB9BF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A4E9844C-5433-94FB-829E-F8C9EC973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165CF51-4F7F-44F1-7CB0-9643AE5C3D4A}"/>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6" name="Нижний колонтитул 5">
            <a:extLst>
              <a:ext uri="{FF2B5EF4-FFF2-40B4-BE49-F238E27FC236}">
                <a16:creationId xmlns:a16="http://schemas.microsoft.com/office/drawing/2014/main" id="{9DE31DBB-388F-5457-7C98-D006C1BB56F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ADDD6963-3A66-46A1-2B7C-1E539C6AC841}"/>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3310614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C83D24-126E-46A9-B288-BF973D6488C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17248F19-049F-028B-2E64-CCBA70C8E0B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021DA74-7898-CB1D-1963-E2EBBBEEDCCC}"/>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5" name="Нижний колонтитул 4">
            <a:extLst>
              <a:ext uri="{FF2B5EF4-FFF2-40B4-BE49-F238E27FC236}">
                <a16:creationId xmlns:a16="http://schemas.microsoft.com/office/drawing/2014/main" id="{58D5BC18-3E15-3F94-76D8-BAF8DF91D6A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7592BBC-4EA7-0032-3D05-AEC649223CAB}"/>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1055252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E91A41D1-72EA-91F3-C367-6F0FBF6E9743}"/>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43BFD8C6-CAB2-ED20-7474-CA9435FCF15E}"/>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F76D30D-164A-FA3B-974D-CE66343D74A3}"/>
              </a:ext>
            </a:extLst>
          </p:cNvPr>
          <p:cNvSpPr>
            <a:spLocks noGrp="1"/>
          </p:cNvSpPr>
          <p:nvPr>
            <p:ph type="dt" sz="half" idx="10"/>
          </p:nvPr>
        </p:nvSpPr>
        <p:spPr/>
        <p:txBody>
          <a:bodyPr/>
          <a:lstStyle/>
          <a:p>
            <a:fld id="{9153A61D-580B-421A-80D2-2453415F045C}" type="datetimeFigureOut">
              <a:rPr lang="ru-RU" smtClean="0"/>
              <a:t>17.09.2026</a:t>
            </a:fld>
            <a:endParaRPr lang="ru-RU"/>
          </a:p>
        </p:txBody>
      </p:sp>
      <p:sp>
        <p:nvSpPr>
          <p:cNvPr id="5" name="Нижний колонтитул 4">
            <a:extLst>
              <a:ext uri="{FF2B5EF4-FFF2-40B4-BE49-F238E27FC236}">
                <a16:creationId xmlns:a16="http://schemas.microsoft.com/office/drawing/2014/main" id="{565A6E8B-B0AC-DB12-8CED-B479E896F62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8213B15-3D28-CE39-26A4-0906EBA51AE0}"/>
              </a:ext>
            </a:extLst>
          </p:cNvPr>
          <p:cNvSpPr>
            <a:spLocks noGrp="1"/>
          </p:cNvSpPr>
          <p:nvPr>
            <p:ph type="sldNum" sz="quarter" idx="12"/>
          </p:nvPr>
        </p:nvSpPr>
        <p:spPr/>
        <p:txBody>
          <a:bodyPr/>
          <a:lstStyle/>
          <a:p>
            <a:fld id="{8B8EFD4D-1AEA-4464-8603-50785816BE34}" type="slidenum">
              <a:rPr lang="ru-RU" smtClean="0"/>
              <a:t>‹#›</a:t>
            </a:fld>
            <a:endParaRPr lang="ru-RU"/>
          </a:p>
        </p:txBody>
      </p:sp>
    </p:spTree>
    <p:extLst>
      <p:ext uri="{BB962C8B-B14F-4D97-AF65-F5344CB8AC3E}">
        <p14:creationId xmlns:p14="http://schemas.microsoft.com/office/powerpoint/2010/main" val="152467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7EFBA0-C922-C6F7-F6FC-B89CF044F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3F2A45B1-0387-B007-BA55-F0AE29E3E2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9BE9153-3DE1-F90F-BA13-0931BDED36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53A61D-580B-421A-80D2-2453415F045C}" type="datetimeFigureOut">
              <a:rPr lang="ru-RU" smtClean="0"/>
              <a:t>17.09.2026</a:t>
            </a:fld>
            <a:endParaRPr lang="ru-RU"/>
          </a:p>
        </p:txBody>
      </p:sp>
      <p:sp>
        <p:nvSpPr>
          <p:cNvPr id="5" name="Нижний колонтитул 4">
            <a:extLst>
              <a:ext uri="{FF2B5EF4-FFF2-40B4-BE49-F238E27FC236}">
                <a16:creationId xmlns:a16="http://schemas.microsoft.com/office/drawing/2014/main" id="{3F9FB53A-C4E8-608D-E1DD-9576177D5C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4C5D5625-0217-C555-71AF-E6F83E318B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8EFD4D-1AEA-4464-8603-50785816BE34}" type="slidenum">
              <a:rPr lang="ru-RU" smtClean="0"/>
              <a:t>‹#›</a:t>
            </a:fld>
            <a:endParaRPr lang="ru-RU"/>
          </a:p>
        </p:txBody>
      </p:sp>
    </p:spTree>
    <p:extLst>
      <p:ext uri="{BB962C8B-B14F-4D97-AF65-F5344CB8AC3E}">
        <p14:creationId xmlns:p14="http://schemas.microsoft.com/office/powerpoint/2010/main" val="2669785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tiff"/><Relationship Id="rId5" Type="http://schemas.openxmlformats.org/officeDocument/2006/relationships/image" Target="../media/image11.png"/><Relationship Id="rId4" Type="http://schemas.openxmlformats.org/officeDocument/2006/relationships/image" Target="../media/image10.tiff"/></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gif"/></Relationships>
</file>

<file path=ppt/slides/_rels/slide1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0.gif"/></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8.gif"/><Relationship Id="rId4" Type="http://schemas.openxmlformats.org/officeDocument/2006/relationships/image" Target="../media/image27.gif"/></Relationships>
</file>

<file path=ppt/slides/_rels/slide19.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0.gif"/></Relationships>
</file>

<file path=ppt/slides/_rels/slide20.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3.gif"/><Relationship Id="rId4" Type="http://schemas.openxmlformats.org/officeDocument/2006/relationships/image" Target="../media/image32.gif"/></Relationships>
</file>

<file path=ppt/slides/_rels/slide21.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5.gif"/></Relationships>
</file>

<file path=ppt/slides/_rels/slide22.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7.gif"/><Relationship Id="rId4" Type="http://schemas.openxmlformats.org/officeDocument/2006/relationships/image" Target="../media/image36.gif"/></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icture background">
            <a:extLst>
              <a:ext uri="{FF2B5EF4-FFF2-40B4-BE49-F238E27FC236}">
                <a16:creationId xmlns:a16="http://schemas.microsoft.com/office/drawing/2014/main" id="{B2394F2A-9430-DEC5-7040-A8615223D0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8" y="0"/>
            <a:ext cx="12198458" cy="6854371"/>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1EB67728-B597-2994-7C6A-8371B7265259}"/>
              </a:ext>
            </a:extLst>
          </p:cNvPr>
          <p:cNvSpPr>
            <a:spLocks noGrp="1"/>
          </p:cNvSpPr>
          <p:nvPr>
            <p:ph type="ctrTitle"/>
          </p:nvPr>
        </p:nvSpPr>
        <p:spPr>
          <a:xfrm>
            <a:off x="1138519" y="154175"/>
            <a:ext cx="9144000" cy="2387600"/>
          </a:xfrm>
        </p:spPr>
        <p:txBody>
          <a:bodyPr/>
          <a:lstStyle/>
          <a:p>
            <a:r>
              <a:rPr lang="ru-RU" dirty="0">
                <a:solidFill>
                  <a:schemeClr val="bg1"/>
                </a:solidFill>
              </a:rPr>
              <a:t>Машинное обучение и нейронные сети</a:t>
            </a:r>
          </a:p>
        </p:txBody>
      </p:sp>
      <p:sp>
        <p:nvSpPr>
          <p:cNvPr id="3" name="Подзаголовок 2">
            <a:extLst>
              <a:ext uri="{FF2B5EF4-FFF2-40B4-BE49-F238E27FC236}">
                <a16:creationId xmlns:a16="http://schemas.microsoft.com/office/drawing/2014/main" id="{22D6A9FB-BF0F-572B-53AE-BF05689DCC6C}"/>
              </a:ext>
            </a:extLst>
          </p:cNvPr>
          <p:cNvSpPr>
            <a:spLocks noGrp="1"/>
          </p:cNvSpPr>
          <p:nvPr>
            <p:ph type="subTitle" idx="1"/>
          </p:nvPr>
        </p:nvSpPr>
        <p:spPr>
          <a:xfrm>
            <a:off x="1075766" y="2857968"/>
            <a:ext cx="9144000" cy="1655762"/>
          </a:xfrm>
        </p:spPr>
        <p:txBody>
          <a:bodyPr>
            <a:normAutofit/>
          </a:bodyPr>
          <a:lstStyle/>
          <a:p>
            <a:r>
              <a:rPr lang="ru-RU" sz="3600" dirty="0">
                <a:solidFill>
                  <a:schemeClr val="bg1"/>
                </a:solidFill>
              </a:rPr>
              <a:t>Лекция 2. Основы </a:t>
            </a:r>
            <a:r>
              <a:rPr lang="en-US" sz="3600" dirty="0">
                <a:solidFill>
                  <a:schemeClr val="bg1"/>
                </a:solidFill>
              </a:rPr>
              <a:t>ML</a:t>
            </a:r>
            <a:endParaRPr lang="ru-RU" sz="3600" dirty="0">
              <a:solidFill>
                <a:schemeClr val="bg1"/>
              </a:solidFill>
            </a:endParaRPr>
          </a:p>
        </p:txBody>
      </p:sp>
    </p:spTree>
    <p:extLst>
      <p:ext uri="{BB962C8B-B14F-4D97-AF65-F5344CB8AC3E}">
        <p14:creationId xmlns:p14="http://schemas.microsoft.com/office/powerpoint/2010/main" val="2465618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E7A552-DB40-2707-8AFC-2FB61AA3DCA4}"/>
              </a:ext>
            </a:extLst>
          </p:cNvPr>
          <p:cNvSpPr>
            <a:spLocks noGrp="1"/>
          </p:cNvSpPr>
          <p:nvPr>
            <p:ph type="title"/>
          </p:nvPr>
        </p:nvSpPr>
        <p:spPr/>
        <p:txBody>
          <a:bodyPr/>
          <a:lstStyle/>
          <a:p>
            <a:r>
              <a:rPr lang="ru-RU" dirty="0"/>
              <a:t>Вспомним: Область интереса</a:t>
            </a:r>
          </a:p>
        </p:txBody>
      </p:sp>
      <p:pic>
        <p:nvPicPr>
          <p:cNvPr id="4" name="Picture 2" descr="Picture background">
            <a:extLst>
              <a:ext uri="{FF2B5EF4-FFF2-40B4-BE49-F238E27FC236}">
                <a16:creationId xmlns:a16="http://schemas.microsoft.com/office/drawing/2014/main" id="{3AD33EEA-1F42-BADA-3284-E520850ED6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Picture background">
            <a:extLst>
              <a:ext uri="{FF2B5EF4-FFF2-40B4-BE49-F238E27FC236}">
                <a16:creationId xmlns:a16="http://schemas.microsoft.com/office/drawing/2014/main" id="{7A78C583-20BE-E545-F088-88E350F866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465" y="1490102"/>
            <a:ext cx="6512971" cy="432995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Picture background">
            <a:extLst>
              <a:ext uri="{FF2B5EF4-FFF2-40B4-BE49-F238E27FC236}">
                <a16:creationId xmlns:a16="http://schemas.microsoft.com/office/drawing/2014/main" id="{ACE4A398-322D-1D16-CF2E-A864399FD41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05"/>
          <a:stretch>
            <a:fillRect/>
          </a:stretch>
        </p:blipFill>
        <p:spPr bwMode="auto">
          <a:xfrm>
            <a:off x="6771436" y="1356191"/>
            <a:ext cx="5318127" cy="4011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423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497A0-2069-FC39-BA9E-B16846D8496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DF62C5-02DC-D5CF-2577-2C0F594B2960}"/>
              </a:ext>
            </a:extLst>
          </p:cNvPr>
          <p:cNvSpPr>
            <a:spLocks noGrp="1"/>
          </p:cNvSpPr>
          <p:nvPr>
            <p:ph type="title"/>
          </p:nvPr>
        </p:nvSpPr>
        <p:spPr/>
        <p:txBody>
          <a:bodyPr/>
          <a:lstStyle/>
          <a:p>
            <a:r>
              <a:rPr lang="ru-RU" dirty="0"/>
              <a:t>Вспомним: </a:t>
            </a:r>
            <a:r>
              <a:rPr lang="en-US" dirty="0"/>
              <a:t>Machine learning</a:t>
            </a:r>
            <a:endParaRPr lang="ru-RU" dirty="0"/>
          </a:p>
        </p:txBody>
      </p:sp>
      <p:pic>
        <p:nvPicPr>
          <p:cNvPr id="4" name="Picture 2" descr="Picture background">
            <a:extLst>
              <a:ext uri="{FF2B5EF4-FFF2-40B4-BE49-F238E27FC236}">
                <a16:creationId xmlns:a16="http://schemas.microsoft.com/office/drawing/2014/main" id="{802206EF-0C1B-C9D5-3B57-C02C967BB3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Picture background">
            <a:extLst>
              <a:ext uri="{FF2B5EF4-FFF2-40B4-BE49-F238E27FC236}">
                <a16:creationId xmlns:a16="http://schemas.microsoft.com/office/drawing/2014/main" id="{9F2D9FCC-A448-6820-BF20-976071C7C3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727" b="6660"/>
          <a:stretch>
            <a:fillRect/>
          </a:stretch>
        </p:blipFill>
        <p:spPr bwMode="auto">
          <a:xfrm>
            <a:off x="1425132" y="1443319"/>
            <a:ext cx="9478418" cy="4733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807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11D83-747F-B780-916E-5C1607CBD2B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E42EB6-AA62-3773-68FE-C8819CC82298}"/>
              </a:ext>
            </a:extLst>
          </p:cNvPr>
          <p:cNvSpPr>
            <a:spLocks noGrp="1"/>
          </p:cNvSpPr>
          <p:nvPr>
            <p:ph type="title"/>
          </p:nvPr>
        </p:nvSpPr>
        <p:spPr/>
        <p:txBody>
          <a:bodyPr/>
          <a:lstStyle/>
          <a:p>
            <a:r>
              <a:rPr lang="ru-RU" dirty="0"/>
              <a:t>Вспомним: </a:t>
            </a:r>
            <a:r>
              <a:rPr lang="en-US" dirty="0"/>
              <a:t>Supervised learning</a:t>
            </a:r>
            <a:endParaRPr lang="ru-RU" dirty="0"/>
          </a:p>
        </p:txBody>
      </p:sp>
      <p:pic>
        <p:nvPicPr>
          <p:cNvPr id="4" name="Picture 2" descr="Picture background">
            <a:extLst>
              <a:ext uri="{FF2B5EF4-FFF2-40B4-BE49-F238E27FC236}">
                <a16:creationId xmlns:a16="http://schemas.microsoft.com/office/drawing/2014/main" id="{4E4F557D-1A6F-4AB6-DCDE-6A047EE555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8" name="Объект 7">
            <a:extLst>
              <a:ext uri="{FF2B5EF4-FFF2-40B4-BE49-F238E27FC236}">
                <a16:creationId xmlns:a16="http://schemas.microsoft.com/office/drawing/2014/main" id="{E72F0450-9363-B6BC-416E-1B2FDD36F9AD}"/>
              </a:ext>
            </a:extLst>
          </p:cNvPr>
          <p:cNvSpPr>
            <a:spLocks noGrp="1"/>
          </p:cNvSpPr>
          <p:nvPr>
            <p:ph idx="1"/>
          </p:nvPr>
        </p:nvSpPr>
        <p:spPr>
          <a:xfrm>
            <a:off x="838200" y="1825625"/>
            <a:ext cx="2577353" cy="496234"/>
          </a:xfrm>
        </p:spPr>
        <p:txBody>
          <a:bodyPr/>
          <a:lstStyle/>
          <a:p>
            <a:pPr marL="0" indent="0">
              <a:buNone/>
            </a:pPr>
            <a:r>
              <a:rPr lang="ru-RU" dirty="0"/>
              <a:t>Регрессия</a:t>
            </a:r>
          </a:p>
        </p:txBody>
      </p:sp>
      <p:pic>
        <p:nvPicPr>
          <p:cNvPr id="19458" name="Picture 2" descr="Picture background">
            <a:extLst>
              <a:ext uri="{FF2B5EF4-FFF2-40B4-BE49-F238E27FC236}">
                <a16:creationId xmlns:a16="http://schemas.microsoft.com/office/drawing/2014/main" id="{30FB6FBF-9B5F-338D-736A-8E389D7F4A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97" b="16976"/>
          <a:stretch>
            <a:fillRect/>
          </a:stretch>
        </p:blipFill>
        <p:spPr bwMode="auto">
          <a:xfrm>
            <a:off x="1757082" y="2321859"/>
            <a:ext cx="9433019" cy="3759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216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5AA71-3BE3-855B-CAB2-5B6A4CF9659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19232D-4B97-A28A-082D-CCEF46E8BC96}"/>
              </a:ext>
            </a:extLst>
          </p:cNvPr>
          <p:cNvSpPr>
            <a:spLocks noGrp="1"/>
          </p:cNvSpPr>
          <p:nvPr>
            <p:ph type="title"/>
          </p:nvPr>
        </p:nvSpPr>
        <p:spPr/>
        <p:txBody>
          <a:bodyPr/>
          <a:lstStyle/>
          <a:p>
            <a:r>
              <a:rPr lang="ru-RU" dirty="0"/>
              <a:t>Вспомним: </a:t>
            </a:r>
            <a:r>
              <a:rPr lang="en-US" dirty="0"/>
              <a:t>Unsupervised learning</a:t>
            </a:r>
            <a:endParaRPr lang="ru-RU" dirty="0"/>
          </a:p>
        </p:txBody>
      </p:sp>
      <p:pic>
        <p:nvPicPr>
          <p:cNvPr id="4" name="Picture 2" descr="Picture background">
            <a:extLst>
              <a:ext uri="{FF2B5EF4-FFF2-40B4-BE49-F238E27FC236}">
                <a16:creationId xmlns:a16="http://schemas.microsoft.com/office/drawing/2014/main" id="{73C22AC0-613A-F617-6241-AFDC0894A3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Picture background">
            <a:extLst>
              <a:ext uri="{FF2B5EF4-FFF2-40B4-BE49-F238E27FC236}">
                <a16:creationId xmlns:a16="http://schemas.microsoft.com/office/drawing/2014/main" id="{C886BB3A-69E7-C281-3767-CBFBE32BC0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65"/>
          <a:stretch>
            <a:fillRect/>
          </a:stretch>
        </p:blipFill>
        <p:spPr bwMode="auto">
          <a:xfrm>
            <a:off x="2327186" y="2079813"/>
            <a:ext cx="7981578" cy="398198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E87AACA5-DDE3-F8B2-577C-598A11FC4417}"/>
              </a:ext>
            </a:extLst>
          </p:cNvPr>
          <p:cNvSpPr>
            <a:spLocks noGrp="1"/>
          </p:cNvSpPr>
          <p:nvPr>
            <p:ph idx="1"/>
          </p:nvPr>
        </p:nvSpPr>
        <p:spPr>
          <a:xfrm>
            <a:off x="838200" y="1690688"/>
            <a:ext cx="10869706" cy="677408"/>
          </a:xfrm>
        </p:spPr>
        <p:txBody>
          <a:bodyPr>
            <a:normAutofit/>
          </a:bodyPr>
          <a:lstStyle/>
          <a:p>
            <a:pPr marL="0" indent="0">
              <a:buNone/>
            </a:pPr>
            <a:r>
              <a:rPr lang="ru-RU" dirty="0"/>
              <a:t>Кластеризация</a:t>
            </a:r>
          </a:p>
        </p:txBody>
      </p:sp>
    </p:spTree>
    <p:extLst>
      <p:ext uri="{BB962C8B-B14F-4D97-AF65-F5344CB8AC3E}">
        <p14:creationId xmlns:p14="http://schemas.microsoft.com/office/powerpoint/2010/main" val="3586077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C9797-6E23-8FBA-96B9-AA63E902BD6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196F57-9913-DCA9-3613-CA3686D18DB6}"/>
              </a:ext>
            </a:extLst>
          </p:cNvPr>
          <p:cNvSpPr>
            <a:spLocks noGrp="1"/>
          </p:cNvSpPr>
          <p:nvPr>
            <p:ph type="title"/>
          </p:nvPr>
        </p:nvSpPr>
        <p:spPr/>
        <p:txBody>
          <a:bodyPr/>
          <a:lstStyle/>
          <a:p>
            <a:r>
              <a:rPr lang="ru-RU" dirty="0"/>
              <a:t>Вспомним: (</a:t>
            </a:r>
            <a:r>
              <a:rPr lang="en-US" dirty="0"/>
              <a:t>un</a:t>
            </a:r>
            <a:r>
              <a:rPr lang="ru-RU" dirty="0"/>
              <a:t>)</a:t>
            </a:r>
            <a:r>
              <a:rPr lang="en-US" dirty="0"/>
              <a:t>supervised learning</a:t>
            </a:r>
            <a:endParaRPr lang="ru-RU" dirty="0"/>
          </a:p>
        </p:txBody>
      </p:sp>
      <p:pic>
        <p:nvPicPr>
          <p:cNvPr id="4" name="Picture 2" descr="Picture background">
            <a:extLst>
              <a:ext uri="{FF2B5EF4-FFF2-40B4-BE49-F238E27FC236}">
                <a16:creationId xmlns:a16="http://schemas.microsoft.com/office/drawing/2014/main" id="{4A21AD03-06A9-2466-2712-FF1C022238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Picture background">
            <a:extLst>
              <a:ext uri="{FF2B5EF4-FFF2-40B4-BE49-F238E27FC236}">
                <a16:creationId xmlns:a16="http://schemas.microsoft.com/office/drawing/2014/main" id="{1D6147AF-6A23-5370-EE6A-7BE1F5DC6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518" y="1768259"/>
            <a:ext cx="11663082" cy="4331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768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C440B-B7A2-330C-D4B8-58E8D38052A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31BB0B-87FB-5639-240C-BB3665B27E5F}"/>
              </a:ext>
            </a:extLst>
          </p:cNvPr>
          <p:cNvSpPr>
            <a:spLocks noGrp="1"/>
          </p:cNvSpPr>
          <p:nvPr>
            <p:ph type="title"/>
          </p:nvPr>
        </p:nvSpPr>
        <p:spPr/>
        <p:txBody>
          <a:bodyPr/>
          <a:lstStyle/>
          <a:p>
            <a:r>
              <a:rPr lang="ru-RU" dirty="0"/>
              <a:t>Вспомним: </a:t>
            </a:r>
            <a:r>
              <a:rPr lang="en-US" dirty="0"/>
              <a:t>Reinforcement learning</a:t>
            </a:r>
            <a:endParaRPr lang="ru-RU" dirty="0"/>
          </a:p>
        </p:txBody>
      </p:sp>
      <p:pic>
        <p:nvPicPr>
          <p:cNvPr id="4" name="Picture 2" descr="Picture background">
            <a:extLst>
              <a:ext uri="{FF2B5EF4-FFF2-40B4-BE49-F238E27FC236}">
                <a16:creationId xmlns:a16="http://schemas.microsoft.com/office/drawing/2014/main" id="{043A6F47-50EA-255C-8A8C-2C1EAA89F6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A42DA0F6-2086-6735-E592-C2425FBA5C2E}"/>
              </a:ext>
            </a:extLst>
          </p:cNvPr>
          <p:cNvSpPr>
            <a:spLocks noGrp="1"/>
          </p:cNvSpPr>
          <p:nvPr>
            <p:ph idx="1"/>
          </p:nvPr>
        </p:nvSpPr>
        <p:spPr>
          <a:xfrm>
            <a:off x="838200" y="1825625"/>
            <a:ext cx="10869706" cy="677408"/>
          </a:xfrm>
        </p:spPr>
        <p:txBody>
          <a:bodyPr>
            <a:normAutofit/>
          </a:bodyPr>
          <a:lstStyle/>
          <a:p>
            <a:pPr marL="0" indent="0">
              <a:buNone/>
            </a:pPr>
            <a:r>
              <a:rPr lang="ru-RU" dirty="0"/>
              <a:t>ИИ для игр</a:t>
            </a:r>
          </a:p>
        </p:txBody>
      </p:sp>
      <p:pic>
        <p:nvPicPr>
          <p:cNvPr id="5" name="Picture 2">
            <a:extLst>
              <a:ext uri="{FF2B5EF4-FFF2-40B4-BE49-F238E27FC236}">
                <a16:creationId xmlns:a16="http://schemas.microsoft.com/office/drawing/2014/main" id="{F6E7392D-13BC-ABF1-50E4-DC7424119E1B}"/>
              </a:ext>
            </a:extLst>
          </p:cNvPr>
          <p:cNvPicPr>
            <a:picLocks noChangeAspect="1"/>
          </p:cNvPicPr>
          <p:nvPr/>
        </p:nvPicPr>
        <p:blipFill>
          <a:blip r:embed="rId3"/>
          <a:stretch>
            <a:fillRect/>
          </a:stretch>
        </p:blipFill>
        <p:spPr>
          <a:xfrm>
            <a:off x="91308" y="2313762"/>
            <a:ext cx="5001154" cy="3790335"/>
          </a:xfrm>
          <a:prstGeom prst="rect">
            <a:avLst/>
          </a:prstGeom>
        </p:spPr>
      </p:pic>
      <p:pic>
        <p:nvPicPr>
          <p:cNvPr id="7" name="Рисунок 6">
            <a:extLst>
              <a:ext uri="{FF2B5EF4-FFF2-40B4-BE49-F238E27FC236}">
                <a16:creationId xmlns:a16="http://schemas.microsoft.com/office/drawing/2014/main" id="{A76CA761-C14E-83B9-68E3-877A12E93C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0828" y="2313762"/>
            <a:ext cx="6738372" cy="3790335"/>
          </a:xfrm>
          <a:prstGeom prst="rect">
            <a:avLst/>
          </a:prstGeom>
        </p:spPr>
      </p:pic>
    </p:spTree>
    <p:extLst>
      <p:ext uri="{BB962C8B-B14F-4D97-AF65-F5344CB8AC3E}">
        <p14:creationId xmlns:p14="http://schemas.microsoft.com/office/powerpoint/2010/main" val="212224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3A485-49DC-EDB1-7D48-CAA5263E9B7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A19A03-BFC4-23AC-31DA-98479ABAB063}"/>
              </a:ext>
            </a:extLst>
          </p:cNvPr>
          <p:cNvSpPr>
            <a:spLocks noGrp="1"/>
          </p:cNvSpPr>
          <p:nvPr>
            <p:ph type="title"/>
          </p:nvPr>
        </p:nvSpPr>
        <p:spPr/>
        <p:txBody>
          <a:bodyPr/>
          <a:lstStyle/>
          <a:p>
            <a:r>
              <a:rPr lang="ru-RU" dirty="0"/>
              <a:t>Вспомним: Метрика</a:t>
            </a:r>
          </a:p>
        </p:txBody>
      </p:sp>
      <p:pic>
        <p:nvPicPr>
          <p:cNvPr id="4" name="Picture 2" descr="Picture background">
            <a:extLst>
              <a:ext uri="{FF2B5EF4-FFF2-40B4-BE49-F238E27FC236}">
                <a16:creationId xmlns:a16="http://schemas.microsoft.com/office/drawing/2014/main" id="{D6E8BAB2-7373-42D2-0FC6-234C87F655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AEC04B25-C0D3-408C-2171-5A250F74C87F}"/>
              </a:ext>
            </a:extLst>
          </p:cNvPr>
          <p:cNvSpPr>
            <a:spLocks noGrp="1"/>
          </p:cNvSpPr>
          <p:nvPr>
            <p:ph idx="1"/>
          </p:nvPr>
        </p:nvSpPr>
        <p:spPr>
          <a:xfrm>
            <a:off x="838200" y="1690688"/>
            <a:ext cx="10869706" cy="677408"/>
          </a:xfrm>
        </p:spPr>
        <p:txBody>
          <a:bodyPr>
            <a:normAutofit/>
          </a:bodyPr>
          <a:lstStyle/>
          <a:p>
            <a:pPr marL="0" indent="0">
              <a:buNone/>
            </a:pPr>
            <a:endParaRPr lang="ru-RU" dirty="0"/>
          </a:p>
        </p:txBody>
      </p:sp>
      <p:pic>
        <p:nvPicPr>
          <p:cNvPr id="5" name="Picture 2">
            <a:extLst>
              <a:ext uri="{FF2B5EF4-FFF2-40B4-BE49-F238E27FC236}">
                <a16:creationId xmlns:a16="http://schemas.microsoft.com/office/drawing/2014/main" id="{75359D1B-F0F7-1088-FF8B-4FEEB4BC5ED0}"/>
              </a:ext>
            </a:extLst>
          </p:cNvPr>
          <p:cNvPicPr>
            <a:picLocks noChangeAspect="1"/>
          </p:cNvPicPr>
          <p:nvPr/>
        </p:nvPicPr>
        <p:blipFill>
          <a:blip r:embed="rId4"/>
          <a:srcRect b="3024"/>
          <a:stretch>
            <a:fillRect/>
          </a:stretch>
        </p:blipFill>
        <p:spPr>
          <a:xfrm>
            <a:off x="7690287" y="164959"/>
            <a:ext cx="3394095" cy="5981074"/>
          </a:xfrm>
          <a:prstGeom prst="rect">
            <a:avLst/>
          </a:prstGeom>
        </p:spPr>
      </p:pic>
      <p:pic>
        <p:nvPicPr>
          <p:cNvPr id="6" name="Picture 9">
            <a:extLst>
              <a:ext uri="{FF2B5EF4-FFF2-40B4-BE49-F238E27FC236}">
                <a16:creationId xmlns:a16="http://schemas.microsoft.com/office/drawing/2014/main" id="{A104BB36-6ABE-B7D5-F8F4-E8B7EB036C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2452695"/>
            <a:ext cx="3035300" cy="1574800"/>
          </a:xfrm>
          <a:prstGeom prst="rect">
            <a:avLst/>
          </a:prstGeom>
        </p:spPr>
      </p:pic>
      <p:pic>
        <p:nvPicPr>
          <p:cNvPr id="7" name="Picture 10">
            <a:extLst>
              <a:ext uri="{FF2B5EF4-FFF2-40B4-BE49-F238E27FC236}">
                <a16:creationId xmlns:a16="http://schemas.microsoft.com/office/drawing/2014/main" id="{F8A2B015-E964-DAA6-37C7-0FC7A11C15B2}"/>
              </a:ext>
            </a:extLst>
          </p:cNvPr>
          <p:cNvPicPr>
            <a:picLocks noChangeAspect="1"/>
          </p:cNvPicPr>
          <p:nvPr/>
        </p:nvPicPr>
        <p:blipFill>
          <a:blip r:embed="rId6"/>
          <a:stretch>
            <a:fillRect/>
          </a:stretch>
        </p:blipFill>
        <p:spPr>
          <a:xfrm>
            <a:off x="838200" y="4180919"/>
            <a:ext cx="5893005" cy="1520104"/>
          </a:xfrm>
          <a:prstGeom prst="rect">
            <a:avLst/>
          </a:prstGeom>
        </p:spPr>
      </p:pic>
      <p:pic>
        <p:nvPicPr>
          <p:cNvPr id="11" name="Picture 4">
            <a:extLst>
              <a:ext uri="{FF2B5EF4-FFF2-40B4-BE49-F238E27FC236}">
                <a16:creationId xmlns:a16="http://schemas.microsoft.com/office/drawing/2014/main" id="{54E637B6-0B99-44DA-9433-B540F35F95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2300" y="1381509"/>
            <a:ext cx="3697987" cy="3303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21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56E4E-B4B6-B16D-4FC9-F09068B5F92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472471-B997-5A6D-C71B-52FDCC4CF2BA}"/>
              </a:ext>
            </a:extLst>
          </p:cNvPr>
          <p:cNvSpPr>
            <a:spLocks noGrp="1"/>
          </p:cNvSpPr>
          <p:nvPr>
            <p:ph type="title"/>
          </p:nvPr>
        </p:nvSpPr>
        <p:spPr/>
        <p:txBody>
          <a:bodyPr/>
          <a:lstStyle/>
          <a:p>
            <a:r>
              <a:rPr lang="ru-RU" dirty="0"/>
              <a:t>Вспомним: разбиение на </a:t>
            </a:r>
            <a:r>
              <a:rPr lang="en-US" dirty="0"/>
              <a:t>train, </a:t>
            </a:r>
            <a:r>
              <a:rPr lang="en-US" dirty="0" err="1"/>
              <a:t>val</a:t>
            </a:r>
            <a:r>
              <a:rPr lang="en-US" dirty="0"/>
              <a:t>, test</a:t>
            </a:r>
            <a:endParaRPr lang="ru-RU" dirty="0"/>
          </a:p>
        </p:txBody>
      </p:sp>
      <p:pic>
        <p:nvPicPr>
          <p:cNvPr id="4" name="Picture 2" descr="Picture background">
            <a:extLst>
              <a:ext uri="{FF2B5EF4-FFF2-40B4-BE49-F238E27FC236}">
                <a16:creationId xmlns:a16="http://schemas.microsoft.com/office/drawing/2014/main" id="{F4122A10-7276-F42E-17FC-238C22D05A7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B353AF0F-572A-0FB7-B939-FE6423924BA2}"/>
              </a:ext>
            </a:extLst>
          </p:cNvPr>
          <p:cNvSpPr>
            <a:spLocks noGrp="1"/>
          </p:cNvSpPr>
          <p:nvPr>
            <p:ph idx="1"/>
          </p:nvPr>
        </p:nvSpPr>
        <p:spPr>
          <a:xfrm>
            <a:off x="838200" y="1690688"/>
            <a:ext cx="10869706" cy="677408"/>
          </a:xfrm>
        </p:spPr>
        <p:txBody>
          <a:bodyPr>
            <a:normAutofit/>
          </a:bodyPr>
          <a:lstStyle/>
          <a:p>
            <a:pPr marL="0" indent="0">
              <a:buNone/>
            </a:pPr>
            <a:endParaRPr lang="ru-RU" dirty="0"/>
          </a:p>
        </p:txBody>
      </p:sp>
      <p:pic>
        <p:nvPicPr>
          <p:cNvPr id="5" name="Google Shape;364;p30">
            <a:extLst>
              <a:ext uri="{FF2B5EF4-FFF2-40B4-BE49-F238E27FC236}">
                <a16:creationId xmlns:a16="http://schemas.microsoft.com/office/drawing/2014/main" id="{355B4773-C2AA-4E56-10B3-8AE695BB18AE}"/>
              </a:ext>
            </a:extLst>
          </p:cNvPr>
          <p:cNvPicPr preferRelativeResize="0"/>
          <p:nvPr/>
        </p:nvPicPr>
        <p:blipFill rotWithShape="1">
          <a:blip r:embed="rId3">
            <a:alphaModFix/>
          </a:blip>
          <a:srcRect t="61698"/>
          <a:stretch>
            <a:fillRect/>
          </a:stretch>
        </p:blipFill>
        <p:spPr>
          <a:xfrm>
            <a:off x="2169302" y="2653552"/>
            <a:ext cx="7846938" cy="1618977"/>
          </a:xfrm>
          <a:prstGeom prst="rect">
            <a:avLst/>
          </a:prstGeom>
          <a:noFill/>
          <a:ln>
            <a:noFill/>
          </a:ln>
        </p:spPr>
      </p:pic>
    </p:spTree>
    <p:extLst>
      <p:ext uri="{BB962C8B-B14F-4D97-AF65-F5344CB8AC3E}">
        <p14:creationId xmlns:p14="http://schemas.microsoft.com/office/powerpoint/2010/main" val="522288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F5905-11DE-A8F4-BFF2-CD24C88245C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84ADEF-235D-AEE9-B16D-83C078E19484}"/>
              </a:ext>
            </a:extLst>
          </p:cNvPr>
          <p:cNvSpPr>
            <a:spLocks noGrp="1"/>
          </p:cNvSpPr>
          <p:nvPr>
            <p:ph type="title"/>
          </p:nvPr>
        </p:nvSpPr>
        <p:spPr/>
        <p:txBody>
          <a:bodyPr/>
          <a:lstStyle/>
          <a:p>
            <a:r>
              <a:rPr lang="ru" dirty="0"/>
              <a:t>Обучение с учителем (supervised learning)</a:t>
            </a:r>
            <a:endParaRPr lang="ru-RU" dirty="0"/>
          </a:p>
        </p:txBody>
      </p:sp>
      <p:pic>
        <p:nvPicPr>
          <p:cNvPr id="4" name="Picture 2" descr="Picture background">
            <a:extLst>
              <a:ext uri="{FF2B5EF4-FFF2-40B4-BE49-F238E27FC236}">
                <a16:creationId xmlns:a16="http://schemas.microsoft.com/office/drawing/2014/main" id="{A0EDCC20-89D5-021D-F5A2-B8977E4395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6C5D68E7-CE23-E4D1-D1B8-653DB8A00601}"/>
              </a:ext>
            </a:extLst>
          </p:cNvPr>
          <p:cNvSpPr>
            <a:spLocks noGrp="1"/>
          </p:cNvSpPr>
          <p:nvPr>
            <p:ph idx="1"/>
          </p:nvPr>
        </p:nvSpPr>
        <p:spPr>
          <a:xfrm>
            <a:off x="838200" y="1690688"/>
            <a:ext cx="10869706" cy="3616418"/>
          </a:xfrm>
        </p:spPr>
        <p:txBody>
          <a:bodyPr>
            <a:normAutofit/>
          </a:bodyPr>
          <a:lstStyle/>
          <a:p>
            <a:pPr marL="0" lvl="0" indent="0">
              <a:lnSpc>
                <a:spcPct val="100000"/>
              </a:lnSpc>
              <a:spcBef>
                <a:spcPts val="0"/>
              </a:spcBef>
              <a:buClr>
                <a:srgbClr val="000000"/>
              </a:buClr>
              <a:buSzPts val="1800"/>
              <a:buNone/>
            </a:pPr>
            <a:r>
              <a:rPr lang="ru-RU" sz="2400" dirty="0">
                <a:solidFill>
                  <a:srgbClr val="000000"/>
                </a:solidFill>
                <a:ea typeface="Old Standard TT"/>
                <a:cs typeface="Old Standard TT"/>
                <a:sym typeface="Old Standard TT"/>
              </a:rPr>
              <a:t>X - множество объектов</a:t>
            </a:r>
          </a:p>
          <a:p>
            <a:pPr marL="0" lvl="0" indent="0">
              <a:lnSpc>
                <a:spcPct val="100000"/>
              </a:lnSpc>
              <a:spcBef>
                <a:spcPts val="0"/>
              </a:spcBef>
              <a:buClr>
                <a:srgbClr val="000000"/>
              </a:buClr>
              <a:buSzPts val="1800"/>
              <a:buNone/>
            </a:pPr>
            <a:r>
              <a:rPr lang="ru-RU" sz="2400" dirty="0">
                <a:solidFill>
                  <a:srgbClr val="000000"/>
                </a:solidFill>
                <a:ea typeface="Old Standard TT"/>
                <a:cs typeface="Old Standard TT"/>
                <a:sym typeface="Old Standard TT"/>
              </a:rPr>
              <a:t>Y - множество ответов</a:t>
            </a:r>
          </a:p>
        </p:txBody>
      </p:sp>
      <p:pic>
        <p:nvPicPr>
          <p:cNvPr id="14" name="Google Shape;157;p8">
            <a:extLst>
              <a:ext uri="{FF2B5EF4-FFF2-40B4-BE49-F238E27FC236}">
                <a16:creationId xmlns:a16="http://schemas.microsoft.com/office/drawing/2014/main" id="{6767A919-3EE2-8908-FEC5-B7B0C96505C2}"/>
              </a:ext>
            </a:extLst>
          </p:cNvPr>
          <p:cNvPicPr preferRelativeResize="0"/>
          <p:nvPr/>
        </p:nvPicPr>
        <p:blipFill rotWithShape="1">
          <a:blip r:embed="rId3">
            <a:alphaModFix/>
          </a:blip>
          <a:srcRect/>
          <a:stretch/>
        </p:blipFill>
        <p:spPr>
          <a:xfrm>
            <a:off x="936889" y="2635821"/>
            <a:ext cx="1349375" cy="265491"/>
          </a:xfrm>
          <a:prstGeom prst="rect">
            <a:avLst/>
          </a:prstGeom>
          <a:noFill/>
          <a:ln>
            <a:noFill/>
          </a:ln>
        </p:spPr>
      </p:pic>
      <p:sp>
        <p:nvSpPr>
          <p:cNvPr id="15" name="Google Shape;158;p8">
            <a:extLst>
              <a:ext uri="{FF2B5EF4-FFF2-40B4-BE49-F238E27FC236}">
                <a16:creationId xmlns:a16="http://schemas.microsoft.com/office/drawing/2014/main" id="{920AA282-7CE5-C9D1-3017-D3861201AA00}"/>
              </a:ext>
            </a:extLst>
          </p:cNvPr>
          <p:cNvSpPr txBox="1"/>
          <p:nvPr/>
        </p:nvSpPr>
        <p:spPr>
          <a:xfrm>
            <a:off x="2286264" y="2442972"/>
            <a:ext cx="3918300" cy="325500"/>
          </a:xfrm>
          <a:prstGeom prst="rect">
            <a:avLst/>
          </a:prstGeom>
          <a:noFill/>
          <a:ln>
            <a:noFill/>
          </a:ln>
        </p:spPr>
        <p:txBody>
          <a:bodyPr spcFirstLastPara="1" wrap="square" lIns="91425" tIns="91425" rIns="91425" bIns="91425" anchor="t" anchorCtr="0">
            <a:noAutofit/>
          </a:bodyPr>
          <a:lstStyle/>
          <a:p>
            <a:pPr marL="457200" marR="0" lvl="0" indent="-336550" algn="l" rtl="0">
              <a:lnSpc>
                <a:spcPct val="100000"/>
              </a:lnSpc>
              <a:spcBef>
                <a:spcPts val="0"/>
              </a:spcBef>
              <a:spcAft>
                <a:spcPts val="0"/>
              </a:spcAft>
              <a:buClr>
                <a:srgbClr val="000000"/>
              </a:buClr>
              <a:buSzPts val="1700"/>
              <a:buFont typeface="Old Standard TT"/>
              <a:buChar char="-"/>
            </a:pPr>
            <a:r>
              <a:rPr lang="ru" sz="2400" b="0" i="0" u="none" strike="noStrike" cap="none" dirty="0">
                <a:solidFill>
                  <a:srgbClr val="000000"/>
                </a:solidFill>
                <a:ea typeface="Old Standard TT"/>
                <a:cs typeface="Old Standard TT"/>
                <a:sym typeface="Old Standard TT"/>
              </a:rPr>
              <a:t>истинная зависимость.</a:t>
            </a:r>
            <a:endParaRPr sz="2400" b="0" i="0" u="none" strike="noStrike" cap="none" dirty="0">
              <a:solidFill>
                <a:srgbClr val="000000"/>
              </a:solidFill>
              <a:ea typeface="Old Standard TT"/>
              <a:cs typeface="Old Standard TT"/>
              <a:sym typeface="Old Standard TT"/>
            </a:endParaRPr>
          </a:p>
        </p:txBody>
      </p:sp>
      <p:sp>
        <p:nvSpPr>
          <p:cNvPr id="16" name="Google Shape;159;p8">
            <a:extLst>
              <a:ext uri="{FF2B5EF4-FFF2-40B4-BE49-F238E27FC236}">
                <a16:creationId xmlns:a16="http://schemas.microsoft.com/office/drawing/2014/main" id="{87E9F555-6D77-73BF-5160-93345AB15BA5}"/>
              </a:ext>
            </a:extLst>
          </p:cNvPr>
          <p:cNvSpPr txBox="1"/>
          <p:nvPr/>
        </p:nvSpPr>
        <p:spPr>
          <a:xfrm>
            <a:off x="838199" y="3160294"/>
            <a:ext cx="9256059" cy="704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ru" sz="2400" b="0" i="0" u="none" strike="noStrike" cap="none" dirty="0">
                <a:solidFill>
                  <a:srgbClr val="000000"/>
                </a:solidFill>
                <a:ea typeface="Old Standard TT"/>
                <a:cs typeface="Old Standard TT"/>
                <a:sym typeface="Old Standard TT"/>
              </a:rPr>
              <a:t>Обучающий датасет - множество наборов из фичей и значений целевой переменной. Мы обозначим его                   </a:t>
            </a:r>
            <a:r>
              <a:rPr lang="en-US" sz="2400" b="0" i="0" u="none" strike="noStrike" cap="none" dirty="0">
                <a:solidFill>
                  <a:srgbClr val="000000"/>
                </a:solidFill>
                <a:ea typeface="Old Standard TT"/>
                <a:cs typeface="Old Standard TT"/>
                <a:sym typeface="Old Standard TT"/>
              </a:rPr>
              <a:t> </a:t>
            </a:r>
            <a:endParaRPr sz="2400" b="0" i="0" u="none" strike="noStrike" cap="none" dirty="0">
              <a:solidFill>
                <a:srgbClr val="000000"/>
              </a:solidFill>
              <a:ea typeface="Old Standard TT"/>
              <a:cs typeface="Old Standard TT"/>
              <a:sym typeface="Old Standard TT"/>
            </a:endParaRPr>
          </a:p>
        </p:txBody>
      </p:sp>
      <p:pic>
        <p:nvPicPr>
          <p:cNvPr id="17" name="Google Shape;162;p8" title="This is the rendered form of the equation. You can not edit this directly. Right click will give you the option to save the image, and in most browsers you can drag the image onto your desktop or another program.">
            <a:extLst>
              <a:ext uri="{FF2B5EF4-FFF2-40B4-BE49-F238E27FC236}">
                <a16:creationId xmlns:a16="http://schemas.microsoft.com/office/drawing/2014/main" id="{2AE569C2-8523-8F8C-7302-2E1275AEED47}"/>
              </a:ext>
            </a:extLst>
          </p:cNvPr>
          <p:cNvPicPr preferRelativeResize="0"/>
          <p:nvPr/>
        </p:nvPicPr>
        <p:blipFill rotWithShape="1">
          <a:blip r:embed="rId4">
            <a:alphaModFix/>
          </a:blip>
          <a:srcRect t="1" r="39351" b="-35703"/>
          <a:stretch>
            <a:fillRect/>
          </a:stretch>
        </p:blipFill>
        <p:spPr>
          <a:xfrm>
            <a:off x="6456525" y="3648635"/>
            <a:ext cx="849710" cy="365961"/>
          </a:xfrm>
          <a:prstGeom prst="rect">
            <a:avLst/>
          </a:prstGeom>
          <a:noFill/>
          <a:ln>
            <a:noFill/>
          </a:ln>
        </p:spPr>
      </p:pic>
      <p:pic>
        <p:nvPicPr>
          <p:cNvPr id="19" name="Google Shape;160;p8">
            <a:extLst>
              <a:ext uri="{FF2B5EF4-FFF2-40B4-BE49-F238E27FC236}">
                <a16:creationId xmlns:a16="http://schemas.microsoft.com/office/drawing/2014/main" id="{6F87CE81-CA87-E294-AB46-7D652CEE8A8A}"/>
              </a:ext>
            </a:extLst>
          </p:cNvPr>
          <p:cNvPicPr preferRelativeResize="0"/>
          <p:nvPr/>
        </p:nvPicPr>
        <p:blipFill rotWithShape="1">
          <a:blip r:embed="rId5">
            <a:alphaModFix/>
          </a:blip>
          <a:srcRect/>
          <a:stretch/>
        </p:blipFill>
        <p:spPr>
          <a:xfrm>
            <a:off x="936889" y="4318923"/>
            <a:ext cx="4683982" cy="1211665"/>
          </a:xfrm>
          <a:prstGeom prst="rect">
            <a:avLst/>
          </a:prstGeom>
          <a:noFill/>
          <a:ln>
            <a:noFill/>
          </a:ln>
        </p:spPr>
      </p:pic>
      <p:pic>
        <p:nvPicPr>
          <p:cNvPr id="20" name="Google Shape;161;p8">
            <a:extLst>
              <a:ext uri="{FF2B5EF4-FFF2-40B4-BE49-F238E27FC236}">
                <a16:creationId xmlns:a16="http://schemas.microsoft.com/office/drawing/2014/main" id="{D2670DE0-E820-2098-DBE7-C6C3765E2179}"/>
              </a:ext>
            </a:extLst>
          </p:cNvPr>
          <p:cNvPicPr preferRelativeResize="0"/>
          <p:nvPr/>
        </p:nvPicPr>
        <p:blipFill rotWithShape="1">
          <a:blip r:embed="rId6">
            <a:alphaModFix/>
          </a:blip>
          <a:srcRect/>
          <a:stretch/>
        </p:blipFill>
        <p:spPr>
          <a:xfrm>
            <a:off x="6781829" y="4238078"/>
            <a:ext cx="2622147" cy="1385526"/>
          </a:xfrm>
          <a:prstGeom prst="rect">
            <a:avLst/>
          </a:prstGeom>
          <a:noFill/>
          <a:ln>
            <a:noFill/>
          </a:ln>
        </p:spPr>
      </p:pic>
    </p:spTree>
    <p:extLst>
      <p:ext uri="{BB962C8B-B14F-4D97-AF65-F5344CB8AC3E}">
        <p14:creationId xmlns:p14="http://schemas.microsoft.com/office/powerpoint/2010/main" val="4277923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C3F9-A3BB-051D-B312-8C4C250F9E1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9977E8-F503-A8E5-3A35-51B8647548C2}"/>
              </a:ext>
            </a:extLst>
          </p:cNvPr>
          <p:cNvSpPr>
            <a:spLocks noGrp="1"/>
          </p:cNvSpPr>
          <p:nvPr>
            <p:ph type="title"/>
          </p:nvPr>
        </p:nvSpPr>
        <p:spPr/>
        <p:txBody>
          <a:bodyPr/>
          <a:lstStyle/>
          <a:p>
            <a:r>
              <a:rPr lang="ru" dirty="0"/>
              <a:t>Обучение с учителем (supervised learning)</a:t>
            </a:r>
            <a:endParaRPr lang="ru-RU" dirty="0"/>
          </a:p>
        </p:txBody>
      </p:sp>
      <p:pic>
        <p:nvPicPr>
          <p:cNvPr id="4" name="Picture 2" descr="Picture background">
            <a:extLst>
              <a:ext uri="{FF2B5EF4-FFF2-40B4-BE49-F238E27FC236}">
                <a16:creationId xmlns:a16="http://schemas.microsoft.com/office/drawing/2014/main" id="{05CB9E11-63DD-75C1-88A5-3F7B09DEDA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69;p9">
            <a:extLst>
              <a:ext uri="{FF2B5EF4-FFF2-40B4-BE49-F238E27FC236}">
                <a16:creationId xmlns:a16="http://schemas.microsoft.com/office/drawing/2014/main" id="{4C20B14C-FCE6-04D7-3179-214E4C16CBCD}"/>
              </a:ext>
            </a:extLst>
          </p:cNvPr>
          <p:cNvSpPr txBox="1"/>
          <p:nvPr/>
        </p:nvSpPr>
        <p:spPr>
          <a:xfrm>
            <a:off x="838200" y="1690688"/>
            <a:ext cx="8019600" cy="38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ru" sz="1800" b="0" i="0" u="none" strike="noStrike" cap="none" dirty="0">
                <a:solidFill>
                  <a:srgbClr val="000000"/>
                </a:solidFill>
                <a:latin typeface="Old Standard TT"/>
                <a:ea typeface="Old Standard TT"/>
                <a:cs typeface="Old Standard TT"/>
                <a:sym typeface="Old Standard TT"/>
              </a:rPr>
              <a:t>Типы признаков (features):</a:t>
            </a:r>
            <a:endParaRPr sz="1800" b="0" i="0" u="none" strike="noStrike" cap="none" dirty="0">
              <a:solidFill>
                <a:srgbClr val="000000"/>
              </a:solidFill>
              <a:latin typeface="Old Standard TT"/>
              <a:ea typeface="Old Standard TT"/>
              <a:cs typeface="Old Standard TT"/>
              <a:sym typeface="Old Standard TT"/>
            </a:endParaRPr>
          </a:p>
        </p:txBody>
      </p:sp>
      <p:sp>
        <p:nvSpPr>
          <p:cNvPr id="6" name="Google Shape;170;p9">
            <a:extLst>
              <a:ext uri="{FF2B5EF4-FFF2-40B4-BE49-F238E27FC236}">
                <a16:creationId xmlns:a16="http://schemas.microsoft.com/office/drawing/2014/main" id="{B6CBB9DB-BFB3-A8A1-3F09-18624161B27C}"/>
              </a:ext>
            </a:extLst>
          </p:cNvPr>
          <p:cNvSpPr txBox="1"/>
          <p:nvPr/>
        </p:nvSpPr>
        <p:spPr>
          <a:xfrm>
            <a:off x="838200" y="2165738"/>
            <a:ext cx="7604100" cy="29673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rgbClr val="000000"/>
              </a:buClr>
              <a:buSzPts val="1800"/>
              <a:buFont typeface="Old Standard TT"/>
              <a:buChar char="●"/>
            </a:pPr>
            <a:r>
              <a:rPr lang="ru" sz="2400" b="0" i="0" u="none" strike="noStrike" cap="none" dirty="0">
                <a:solidFill>
                  <a:srgbClr val="000000"/>
                </a:solidFill>
                <a:ea typeface="Old Standard TT"/>
                <a:cs typeface="Old Standard TT"/>
                <a:sym typeface="Old Standard TT"/>
              </a:rPr>
              <a:t>Числовые (Numerical)</a:t>
            </a:r>
            <a:endParaRPr sz="2400" b="0" i="0" u="none" strike="noStrike" cap="none" dirty="0">
              <a:solidFill>
                <a:srgbClr val="000000"/>
              </a:solidFill>
              <a:ea typeface="Old Standard TT"/>
              <a:cs typeface="Old Standard TT"/>
              <a:sym typeface="Old Standard TT"/>
            </a:endParaRPr>
          </a:p>
          <a:p>
            <a:pPr marL="457200" marR="0" lvl="0" indent="-342900" algn="l" rtl="0">
              <a:lnSpc>
                <a:spcPct val="100000"/>
              </a:lnSpc>
              <a:spcBef>
                <a:spcPts val="0"/>
              </a:spcBef>
              <a:spcAft>
                <a:spcPts val="0"/>
              </a:spcAft>
              <a:buClr>
                <a:srgbClr val="000000"/>
              </a:buClr>
              <a:buSzPts val="1800"/>
              <a:buFont typeface="Old Standard TT"/>
              <a:buChar char="●"/>
            </a:pPr>
            <a:r>
              <a:rPr lang="ru" sz="2400" b="0" i="0" u="none" strike="noStrike" cap="none" dirty="0">
                <a:solidFill>
                  <a:srgbClr val="000000"/>
                </a:solidFill>
                <a:ea typeface="Old Standard TT"/>
                <a:cs typeface="Old Standard TT"/>
                <a:sym typeface="Old Standard TT"/>
              </a:rPr>
              <a:t>Категориальные (Categorical)</a:t>
            </a:r>
            <a:endParaRPr sz="2400" b="0" i="0" u="none" strike="noStrike" cap="none" dirty="0">
              <a:solidFill>
                <a:srgbClr val="000000"/>
              </a:solidFill>
              <a:ea typeface="Old Standard TT"/>
              <a:cs typeface="Old Standard TT"/>
              <a:sym typeface="Old Standard TT"/>
            </a:endParaRPr>
          </a:p>
          <a:p>
            <a:pPr marL="457200" marR="0" lvl="0" indent="-342900" algn="l" rtl="0">
              <a:lnSpc>
                <a:spcPct val="100000"/>
              </a:lnSpc>
              <a:spcBef>
                <a:spcPts val="0"/>
              </a:spcBef>
              <a:spcAft>
                <a:spcPts val="0"/>
              </a:spcAft>
              <a:buClr>
                <a:srgbClr val="000000"/>
              </a:buClr>
              <a:buSzPts val="1800"/>
              <a:buFont typeface="Old Standard TT"/>
              <a:buChar char="●"/>
            </a:pPr>
            <a:r>
              <a:rPr lang="ru" sz="2400" b="0" i="0" u="none" strike="noStrike" cap="none" dirty="0">
                <a:solidFill>
                  <a:srgbClr val="000000"/>
                </a:solidFill>
                <a:ea typeface="Old Standard TT"/>
                <a:cs typeface="Old Standard TT"/>
                <a:sym typeface="Old Standard TT"/>
              </a:rPr>
              <a:t>Порядковые (Ordinal)</a:t>
            </a: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 sz="2400" b="0" i="0" u="none" strike="noStrike" cap="none" dirty="0">
                <a:solidFill>
                  <a:srgbClr val="000000"/>
                </a:solidFill>
                <a:ea typeface="Old Standard TT"/>
                <a:cs typeface="Old Standard TT"/>
                <a:sym typeface="Old Standard TT"/>
              </a:rPr>
              <a:t>Типы задач:</a:t>
            </a:r>
            <a:endParaRPr sz="2400" b="0" i="0" u="none" strike="noStrike" cap="none" dirty="0">
              <a:solidFill>
                <a:srgbClr val="000000"/>
              </a:solidFill>
              <a:ea typeface="Old Standard TT"/>
              <a:cs typeface="Old Standard TT"/>
              <a:sym typeface="Old Standard TT"/>
            </a:endParaRPr>
          </a:p>
          <a:p>
            <a:pPr marL="457200" marR="0" lvl="0" indent="-342900" algn="l" rtl="0">
              <a:lnSpc>
                <a:spcPct val="100000"/>
              </a:lnSpc>
              <a:spcBef>
                <a:spcPts val="0"/>
              </a:spcBef>
              <a:spcAft>
                <a:spcPts val="0"/>
              </a:spcAft>
              <a:buClr>
                <a:srgbClr val="000000"/>
              </a:buClr>
              <a:buSzPts val="1800"/>
              <a:buFont typeface="Old Standard TT"/>
              <a:buChar char="●"/>
            </a:pPr>
            <a:r>
              <a:rPr lang="ru" sz="2400" b="0" i="0" u="none" strike="noStrike" cap="none" dirty="0">
                <a:solidFill>
                  <a:srgbClr val="000000"/>
                </a:solidFill>
                <a:ea typeface="Old Standard TT"/>
                <a:cs typeface="Old Standard TT"/>
                <a:sym typeface="Old Standard TT"/>
              </a:rPr>
              <a:t>Классификация (Classification)</a:t>
            </a:r>
            <a:endParaRPr sz="2400" b="0" i="0" u="none" strike="noStrike" cap="none" dirty="0">
              <a:solidFill>
                <a:srgbClr val="000000"/>
              </a:solidFill>
              <a:ea typeface="Old Standard TT"/>
              <a:cs typeface="Old Standard TT"/>
              <a:sym typeface="Old Standard TT"/>
            </a:endParaRPr>
          </a:p>
          <a:p>
            <a:pPr marL="457200" marR="0" lvl="0" indent="-342900" algn="l" rtl="0">
              <a:lnSpc>
                <a:spcPct val="100000"/>
              </a:lnSpc>
              <a:spcBef>
                <a:spcPts val="0"/>
              </a:spcBef>
              <a:spcAft>
                <a:spcPts val="0"/>
              </a:spcAft>
              <a:buClr>
                <a:srgbClr val="000000"/>
              </a:buClr>
              <a:buSzPts val="1800"/>
              <a:buFont typeface="Old Standard TT"/>
              <a:buChar char="●"/>
            </a:pPr>
            <a:r>
              <a:rPr lang="ru" sz="2400" b="0" i="0" u="none" strike="noStrike" cap="none" dirty="0">
                <a:solidFill>
                  <a:srgbClr val="000000"/>
                </a:solidFill>
                <a:ea typeface="Old Standard TT"/>
                <a:cs typeface="Old Standard TT"/>
                <a:sym typeface="Old Standard TT"/>
              </a:rPr>
              <a:t>Регрессия (Regression)</a:t>
            </a:r>
            <a:endParaRPr sz="2400" b="0" i="0" u="none" strike="noStrike" cap="none" dirty="0">
              <a:solidFill>
                <a:srgbClr val="000000"/>
              </a:solidFill>
              <a:ea typeface="Old Standard TT"/>
              <a:cs typeface="Old Standard TT"/>
              <a:sym typeface="Old Standard TT"/>
            </a:endParaRPr>
          </a:p>
          <a:p>
            <a:pPr marL="457200" marR="0" lvl="0" indent="-342900" algn="l" rtl="0">
              <a:lnSpc>
                <a:spcPct val="100000"/>
              </a:lnSpc>
              <a:spcBef>
                <a:spcPts val="0"/>
              </a:spcBef>
              <a:spcAft>
                <a:spcPts val="0"/>
              </a:spcAft>
              <a:buClr>
                <a:srgbClr val="000000"/>
              </a:buClr>
              <a:buSzPts val="1800"/>
              <a:buFont typeface="Old Standard TT"/>
              <a:buChar char="●"/>
            </a:pPr>
            <a:r>
              <a:rPr lang="ru" sz="2400" b="0" i="0" u="none" strike="noStrike" cap="none" dirty="0">
                <a:solidFill>
                  <a:srgbClr val="000000"/>
                </a:solidFill>
                <a:ea typeface="Old Standard TT"/>
                <a:cs typeface="Old Standard TT"/>
                <a:sym typeface="Old Standard TT"/>
              </a:rPr>
              <a:t>Ранжирование (Ranking)</a:t>
            </a:r>
            <a:endParaRPr sz="2400" b="0" i="0" u="none" strike="noStrike" cap="none" dirty="0">
              <a:solidFill>
                <a:srgbClr val="000000"/>
              </a:solidFill>
              <a:ea typeface="Old Standard TT"/>
              <a:cs typeface="Old Standard TT"/>
              <a:sym typeface="Old Standard TT"/>
            </a:endParaRPr>
          </a:p>
        </p:txBody>
      </p:sp>
      <p:pic>
        <p:nvPicPr>
          <p:cNvPr id="7" name="Google Shape;171;p9">
            <a:extLst>
              <a:ext uri="{FF2B5EF4-FFF2-40B4-BE49-F238E27FC236}">
                <a16:creationId xmlns:a16="http://schemas.microsoft.com/office/drawing/2014/main" id="{E610EAA0-BE5D-BD0C-6A9A-2119358CEFFA}"/>
              </a:ext>
            </a:extLst>
          </p:cNvPr>
          <p:cNvPicPr preferRelativeResize="0"/>
          <p:nvPr/>
        </p:nvPicPr>
        <p:blipFill rotWithShape="1">
          <a:blip r:embed="rId3">
            <a:alphaModFix/>
          </a:blip>
          <a:srcRect/>
          <a:stretch/>
        </p:blipFill>
        <p:spPr>
          <a:xfrm>
            <a:off x="5909071" y="4153086"/>
            <a:ext cx="3532849" cy="206542"/>
          </a:xfrm>
          <a:prstGeom prst="rect">
            <a:avLst/>
          </a:prstGeom>
          <a:noFill/>
          <a:ln>
            <a:noFill/>
          </a:ln>
        </p:spPr>
      </p:pic>
      <p:pic>
        <p:nvPicPr>
          <p:cNvPr id="8" name="Google Shape;172;p9">
            <a:extLst>
              <a:ext uri="{FF2B5EF4-FFF2-40B4-BE49-F238E27FC236}">
                <a16:creationId xmlns:a16="http://schemas.microsoft.com/office/drawing/2014/main" id="{2A86459B-AC6F-41C7-FD18-8D8048380C52}"/>
              </a:ext>
            </a:extLst>
          </p:cNvPr>
          <p:cNvPicPr preferRelativeResize="0"/>
          <p:nvPr/>
        </p:nvPicPr>
        <p:blipFill rotWithShape="1">
          <a:blip r:embed="rId4">
            <a:alphaModFix/>
          </a:blip>
          <a:srcRect/>
          <a:stretch/>
        </p:blipFill>
        <p:spPr>
          <a:xfrm>
            <a:off x="5909071" y="4603133"/>
            <a:ext cx="634217" cy="156550"/>
          </a:xfrm>
          <a:prstGeom prst="rect">
            <a:avLst/>
          </a:prstGeom>
          <a:noFill/>
          <a:ln>
            <a:noFill/>
          </a:ln>
        </p:spPr>
      </p:pic>
      <p:pic>
        <p:nvPicPr>
          <p:cNvPr id="9" name="Google Shape;173;p9">
            <a:extLst>
              <a:ext uri="{FF2B5EF4-FFF2-40B4-BE49-F238E27FC236}">
                <a16:creationId xmlns:a16="http://schemas.microsoft.com/office/drawing/2014/main" id="{4BAEFD82-4EED-CB4F-9A26-A8256B211E12}"/>
              </a:ext>
            </a:extLst>
          </p:cNvPr>
          <p:cNvPicPr preferRelativeResize="0"/>
          <p:nvPr/>
        </p:nvPicPr>
        <p:blipFill rotWithShape="1">
          <a:blip r:embed="rId3">
            <a:alphaModFix/>
          </a:blip>
          <a:srcRect l="27658" r="30222" b="-17467"/>
          <a:stretch/>
        </p:blipFill>
        <p:spPr>
          <a:xfrm>
            <a:off x="5909071" y="5003188"/>
            <a:ext cx="1487926" cy="242625"/>
          </a:xfrm>
          <a:prstGeom prst="rect">
            <a:avLst/>
          </a:prstGeom>
          <a:noFill/>
          <a:ln>
            <a:noFill/>
          </a:ln>
        </p:spPr>
      </p:pic>
    </p:spTree>
    <p:extLst>
      <p:ext uri="{BB962C8B-B14F-4D97-AF65-F5344CB8AC3E}">
        <p14:creationId xmlns:p14="http://schemas.microsoft.com/office/powerpoint/2010/main" val="3514654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C1322-0054-1AA0-36F2-0A88C9EBECB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837F2D-6FA7-25D6-0A02-2782C5E80886}"/>
              </a:ext>
            </a:extLst>
          </p:cNvPr>
          <p:cNvSpPr>
            <a:spLocks noGrp="1"/>
          </p:cNvSpPr>
          <p:nvPr>
            <p:ph type="title"/>
          </p:nvPr>
        </p:nvSpPr>
        <p:spPr/>
        <p:txBody>
          <a:bodyPr/>
          <a:lstStyle/>
          <a:p>
            <a:r>
              <a:rPr lang="ru" dirty="0"/>
              <a:t>Примеры задач (Ирисы Фишера)</a:t>
            </a:r>
            <a:endParaRPr lang="ru-RU" dirty="0"/>
          </a:p>
        </p:txBody>
      </p:sp>
      <p:pic>
        <p:nvPicPr>
          <p:cNvPr id="4" name="Picture 2" descr="Picture background">
            <a:extLst>
              <a:ext uri="{FF2B5EF4-FFF2-40B4-BE49-F238E27FC236}">
                <a16:creationId xmlns:a16="http://schemas.microsoft.com/office/drawing/2014/main" id="{B2253D79-F028-D820-4BD3-C400E58EA0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pic>
        <p:nvPicPr>
          <p:cNvPr id="5" name="Google Shape;180;p10">
            <a:extLst>
              <a:ext uri="{FF2B5EF4-FFF2-40B4-BE49-F238E27FC236}">
                <a16:creationId xmlns:a16="http://schemas.microsoft.com/office/drawing/2014/main" id="{95F58BDD-6FBF-BA2E-F494-907D0332D921}"/>
              </a:ext>
            </a:extLst>
          </p:cNvPr>
          <p:cNvPicPr preferRelativeResize="0"/>
          <p:nvPr/>
        </p:nvPicPr>
        <p:blipFill rotWithShape="1">
          <a:blip r:embed="rId3">
            <a:alphaModFix/>
          </a:blip>
          <a:srcRect/>
          <a:stretch/>
        </p:blipFill>
        <p:spPr>
          <a:xfrm>
            <a:off x="717177" y="1584781"/>
            <a:ext cx="4492651" cy="4492651"/>
          </a:xfrm>
          <a:prstGeom prst="rect">
            <a:avLst/>
          </a:prstGeom>
          <a:noFill/>
          <a:ln>
            <a:noFill/>
          </a:ln>
        </p:spPr>
      </p:pic>
      <p:sp>
        <p:nvSpPr>
          <p:cNvPr id="7" name="Google Shape;181;p10">
            <a:extLst>
              <a:ext uri="{FF2B5EF4-FFF2-40B4-BE49-F238E27FC236}">
                <a16:creationId xmlns:a16="http://schemas.microsoft.com/office/drawing/2014/main" id="{87E87442-E7E8-49EF-95DA-49F325069C7E}"/>
              </a:ext>
            </a:extLst>
          </p:cNvPr>
          <p:cNvSpPr txBox="1"/>
          <p:nvPr/>
        </p:nvSpPr>
        <p:spPr>
          <a:xfrm>
            <a:off x="5330851" y="1530655"/>
            <a:ext cx="4961257" cy="4596543"/>
          </a:xfrm>
          <a:prstGeom prst="rect">
            <a:avLst/>
          </a:prstGeom>
          <a:noFill/>
          <a:ln>
            <a:noFill/>
          </a:ln>
        </p:spPr>
        <p:txBody>
          <a:bodyPr spcFirstLastPara="1" wrap="square" lIns="91425" tIns="91425" rIns="91425" bIns="91425" anchor="t" anchorCtr="0">
            <a:noAutofit/>
          </a:bodyPr>
          <a:lstStyle/>
          <a:p>
            <a:pPr lvl="0">
              <a:buClr>
                <a:srgbClr val="000000"/>
              </a:buClr>
              <a:buSzPts val="1800"/>
            </a:pPr>
            <a:r>
              <a:rPr lang="ru-RU" sz="2400" b="1" dirty="0">
                <a:solidFill>
                  <a:srgbClr val="000000"/>
                </a:solidFill>
                <a:ea typeface="Old Standard TT"/>
                <a:cs typeface="Old Standard TT"/>
                <a:sym typeface="Old Standard TT"/>
              </a:rPr>
              <a:t>Какая это задача?</a:t>
            </a:r>
          </a:p>
          <a:p>
            <a:pPr lvl="0">
              <a:buClr>
                <a:srgbClr val="000000"/>
              </a:buClr>
              <a:buSzPts val="1800"/>
            </a:pPr>
            <a:endParaRPr lang="en-US" sz="2400" dirty="0">
              <a:solidFill>
                <a:srgbClr val="000000"/>
              </a:solidFill>
              <a:ea typeface="Old Standard TT"/>
              <a:cs typeface="Old Standard TT"/>
              <a:sym typeface="Old Standard TT"/>
            </a:endParaRPr>
          </a:p>
          <a:p>
            <a:pPr lvl="0">
              <a:buClr>
                <a:srgbClr val="000000"/>
              </a:buClr>
              <a:buSzPts val="1800"/>
            </a:pPr>
            <a:endParaRPr lang="ru-RU" sz="2400" dirty="0">
              <a:solidFill>
                <a:srgbClr val="000000"/>
              </a:solidFill>
              <a:ea typeface="Old Standard TT"/>
              <a:cs typeface="Old Standard TT"/>
              <a:sym typeface="Old Standard TT"/>
            </a:endParaRPr>
          </a:p>
          <a:p>
            <a:pPr lvl="0">
              <a:buClr>
                <a:srgbClr val="000000"/>
              </a:buClr>
              <a:buSzPts val="1800"/>
            </a:pPr>
            <a:r>
              <a:rPr lang="ru-RU" sz="2400" b="1" dirty="0">
                <a:solidFill>
                  <a:srgbClr val="000000"/>
                </a:solidFill>
                <a:ea typeface="Old Standard TT"/>
                <a:cs typeface="Old Standard TT"/>
                <a:sym typeface="Old Standard TT"/>
              </a:rPr>
              <a:t>Какие есть признаки?</a:t>
            </a:r>
          </a:p>
        </p:txBody>
      </p:sp>
      <p:sp>
        <p:nvSpPr>
          <p:cNvPr id="9" name="Google Shape;181;p10">
            <a:extLst>
              <a:ext uri="{FF2B5EF4-FFF2-40B4-BE49-F238E27FC236}">
                <a16:creationId xmlns:a16="http://schemas.microsoft.com/office/drawing/2014/main" id="{142267C8-DBB4-62B1-A6CB-37670A822F0C}"/>
              </a:ext>
            </a:extLst>
          </p:cNvPr>
          <p:cNvSpPr txBox="1"/>
          <p:nvPr/>
        </p:nvSpPr>
        <p:spPr>
          <a:xfrm>
            <a:off x="5330851" y="1530654"/>
            <a:ext cx="4961257" cy="4596543"/>
          </a:xfrm>
          <a:prstGeom prst="rect">
            <a:avLst/>
          </a:prstGeom>
          <a:noFill/>
          <a:ln>
            <a:noFill/>
          </a:ln>
        </p:spPr>
        <p:txBody>
          <a:bodyPr spcFirstLastPara="1" wrap="square" lIns="91425" tIns="91425" rIns="91425" bIns="91425" anchor="t" anchorCtr="0">
            <a:noAutofit/>
          </a:bodyPr>
          <a:lstStyle/>
          <a:p>
            <a:pPr lvl="0">
              <a:buClr>
                <a:srgbClr val="000000"/>
              </a:buClr>
              <a:buSzPts val="1800"/>
            </a:pPr>
            <a:endParaRPr lang="en-US" sz="2400" b="1" dirty="0">
              <a:solidFill>
                <a:srgbClr val="000000"/>
              </a:solidFill>
              <a:ea typeface="Old Standard TT"/>
              <a:cs typeface="Old Standard TT"/>
              <a:sym typeface="Old Standard TT"/>
            </a:endParaRPr>
          </a:p>
          <a:p>
            <a:pPr lvl="0">
              <a:buClr>
                <a:srgbClr val="000000"/>
              </a:buClr>
              <a:buSzPts val="1800"/>
            </a:pPr>
            <a:r>
              <a:rPr lang="ru-RU" sz="2400" dirty="0">
                <a:solidFill>
                  <a:srgbClr val="000000"/>
                </a:solidFill>
                <a:ea typeface="Old Standard TT"/>
                <a:cs typeface="Old Standard TT"/>
                <a:sym typeface="Old Standard TT"/>
              </a:rPr>
              <a:t>Задача классификации.</a:t>
            </a:r>
          </a:p>
          <a:p>
            <a:pPr lvl="0">
              <a:buClr>
                <a:srgbClr val="000000"/>
              </a:buClr>
              <a:buSzPts val="1800"/>
            </a:pPr>
            <a:endParaRPr lang="ru-RU" sz="2400" dirty="0">
              <a:solidFill>
                <a:srgbClr val="000000"/>
              </a:solidFill>
              <a:ea typeface="Old Standard TT"/>
              <a:cs typeface="Old Standard TT"/>
              <a:sym typeface="Old Standard TT"/>
            </a:endParaRPr>
          </a:p>
          <a:p>
            <a:pPr lvl="0">
              <a:buClr>
                <a:srgbClr val="000000"/>
              </a:buClr>
              <a:buSzPts val="1800"/>
            </a:pPr>
            <a:endParaRPr lang="en-US" sz="2400" b="1" dirty="0">
              <a:solidFill>
                <a:srgbClr val="000000"/>
              </a:solidFill>
              <a:ea typeface="Old Standard TT"/>
              <a:cs typeface="Old Standard TT"/>
              <a:sym typeface="Old Standard TT"/>
            </a:endParaRPr>
          </a:p>
          <a:p>
            <a:pPr lvl="0">
              <a:buClr>
                <a:srgbClr val="000000"/>
              </a:buClr>
              <a:buSzPts val="1800"/>
            </a:pPr>
            <a:r>
              <a:rPr lang="ru-RU" sz="2400" dirty="0">
                <a:solidFill>
                  <a:srgbClr val="000000"/>
                </a:solidFill>
                <a:ea typeface="Old Standard TT"/>
                <a:cs typeface="Old Standard TT"/>
                <a:sym typeface="Old Standard TT"/>
              </a:rPr>
              <a:t>Есть только числовые признаки.</a:t>
            </a:r>
          </a:p>
        </p:txBody>
      </p:sp>
    </p:spTree>
    <p:extLst>
      <p:ext uri="{BB962C8B-B14F-4D97-AF65-F5344CB8AC3E}">
        <p14:creationId xmlns:p14="http://schemas.microsoft.com/office/powerpoint/2010/main" val="329932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2663F-9886-AD89-0B24-868E71982F6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598B79-378E-61CB-4231-BF7B60DB6C79}"/>
              </a:ext>
            </a:extLst>
          </p:cNvPr>
          <p:cNvSpPr>
            <a:spLocks noGrp="1"/>
          </p:cNvSpPr>
          <p:nvPr>
            <p:ph type="title"/>
          </p:nvPr>
        </p:nvSpPr>
        <p:spPr/>
        <p:txBody>
          <a:bodyPr/>
          <a:lstStyle/>
          <a:p>
            <a:r>
              <a:rPr lang="ru" dirty="0"/>
              <a:t>Примеры задач (Цена дома)</a:t>
            </a:r>
            <a:endParaRPr lang="ru-RU" dirty="0"/>
          </a:p>
        </p:txBody>
      </p:sp>
      <p:pic>
        <p:nvPicPr>
          <p:cNvPr id="4" name="Picture 2" descr="Picture background">
            <a:extLst>
              <a:ext uri="{FF2B5EF4-FFF2-40B4-BE49-F238E27FC236}">
                <a16:creationId xmlns:a16="http://schemas.microsoft.com/office/drawing/2014/main" id="{6C88C27A-C851-FEDD-D311-8B075D80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204;p13">
            <a:extLst>
              <a:ext uri="{FF2B5EF4-FFF2-40B4-BE49-F238E27FC236}">
                <a16:creationId xmlns:a16="http://schemas.microsoft.com/office/drawing/2014/main" id="{9FE7E342-E88C-82AA-7212-60BF170E3C26}"/>
              </a:ext>
            </a:extLst>
          </p:cNvPr>
          <p:cNvSpPr txBox="1"/>
          <p:nvPr/>
        </p:nvSpPr>
        <p:spPr>
          <a:xfrm>
            <a:off x="6968073" y="1591730"/>
            <a:ext cx="4174800" cy="3867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ru" sz="2400" b="1" i="0" u="none" strike="noStrike" cap="none" dirty="0">
                <a:solidFill>
                  <a:srgbClr val="000000"/>
                </a:solidFill>
                <a:ea typeface="Old Standard TT"/>
                <a:cs typeface="Old Standard TT"/>
                <a:sym typeface="Old Standard TT"/>
              </a:rPr>
              <a:t>Какая это задача?</a:t>
            </a:r>
            <a:endParaRPr sz="2400" b="1"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endParaRPr lang="en-US"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 sz="2400" b="1" i="0" u="none" strike="noStrike" cap="none" dirty="0">
                <a:solidFill>
                  <a:srgbClr val="000000"/>
                </a:solidFill>
                <a:ea typeface="Old Standard TT"/>
                <a:cs typeface="Old Standard TT"/>
                <a:sym typeface="Old Standard TT"/>
              </a:rPr>
              <a:t>Какие есть признаки?</a:t>
            </a:r>
            <a:endParaRPr sz="2400" b="1"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 sz="2400" b="0" i="0" u="none" strike="noStrike" cap="none" dirty="0">
                <a:solidFill>
                  <a:srgbClr val="000000"/>
                </a:solidFill>
                <a:ea typeface="Old Standard TT"/>
                <a:cs typeface="Old Standard TT"/>
                <a:sym typeface="Old Standard TT"/>
              </a:rPr>
              <a:t>              </a:t>
            </a:r>
            <a:endParaRPr sz="2400" b="0" i="0" u="none" strike="noStrike" cap="none" dirty="0">
              <a:solidFill>
                <a:srgbClr val="000000"/>
              </a:solidFill>
              <a:ea typeface="Old Standard TT"/>
              <a:cs typeface="Old Standard TT"/>
              <a:sym typeface="Old Standard TT"/>
            </a:endParaRPr>
          </a:p>
        </p:txBody>
      </p:sp>
      <p:sp>
        <p:nvSpPr>
          <p:cNvPr id="6" name="Google Shape;206;p13">
            <a:extLst>
              <a:ext uri="{FF2B5EF4-FFF2-40B4-BE49-F238E27FC236}">
                <a16:creationId xmlns:a16="http://schemas.microsoft.com/office/drawing/2014/main" id="{270EE080-2CC9-917A-9DAE-DA8D20018C98}"/>
              </a:ext>
            </a:extLst>
          </p:cNvPr>
          <p:cNvSpPr txBox="1"/>
          <p:nvPr/>
        </p:nvSpPr>
        <p:spPr>
          <a:xfrm>
            <a:off x="838199" y="1591730"/>
            <a:ext cx="5080747" cy="4585234"/>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ru" sz="2400" b="0" i="0" u="none" strike="noStrike" cap="none" dirty="0">
                <a:solidFill>
                  <a:srgbClr val="000000"/>
                </a:solidFill>
                <a:ea typeface="Old Standard TT"/>
                <a:cs typeface="Old Standard TT"/>
                <a:sym typeface="Old Standard TT"/>
              </a:rPr>
              <a:t>Нужно предсказать стоимость дома. Есть обучающий датасет со следующими признаками:</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Удаленность от метро.</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Оценка состояния дома (плохое, среднее, хорошее, отличное).</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Количество комнат.</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Площадь.</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Год строительства.</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Название района, в котором находится дом.</a:t>
            </a:r>
            <a:endParaRPr sz="2400" b="0" i="0" u="none" strike="noStrike" cap="none" dirty="0">
              <a:solidFill>
                <a:srgbClr val="000000"/>
              </a:solidFill>
              <a:ea typeface="Old Standard TT"/>
              <a:cs typeface="Old Standard TT"/>
              <a:sym typeface="Old Standard TT"/>
            </a:endParaRPr>
          </a:p>
        </p:txBody>
      </p:sp>
      <p:sp>
        <p:nvSpPr>
          <p:cNvPr id="8" name="Google Shape;204;p13">
            <a:extLst>
              <a:ext uri="{FF2B5EF4-FFF2-40B4-BE49-F238E27FC236}">
                <a16:creationId xmlns:a16="http://schemas.microsoft.com/office/drawing/2014/main" id="{5AEADD4E-E1E2-A312-64F1-6E2FAB597DF4}"/>
              </a:ext>
            </a:extLst>
          </p:cNvPr>
          <p:cNvSpPr txBox="1"/>
          <p:nvPr/>
        </p:nvSpPr>
        <p:spPr>
          <a:xfrm>
            <a:off x="6968073" y="1591730"/>
            <a:ext cx="4174800" cy="3867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en-US" sz="2400" b="1"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 sz="2400" b="0" i="0" u="none" strike="noStrike" cap="none" dirty="0">
                <a:solidFill>
                  <a:srgbClr val="000000"/>
                </a:solidFill>
                <a:ea typeface="Old Standard TT"/>
                <a:cs typeface="Old Standard TT"/>
                <a:sym typeface="Old Standard TT"/>
              </a:rPr>
              <a:t>Задача регрессии.</a:t>
            </a: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endParaRPr lang="en-US" sz="2400" b="1"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 sz="2400" b="0" i="0" u="none" strike="noStrike" cap="none" dirty="0">
                <a:solidFill>
                  <a:srgbClr val="000000"/>
                </a:solidFill>
                <a:ea typeface="Old Standard TT"/>
                <a:cs typeface="Old Standard TT"/>
                <a:sym typeface="Old Standard TT"/>
              </a:rPr>
              <a:t>Числовые, порядковые, категориальные. </a:t>
            </a: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 sz="2400" b="0" i="0" u="none" strike="noStrike" cap="none" dirty="0">
                <a:solidFill>
                  <a:srgbClr val="000000"/>
                </a:solidFill>
                <a:ea typeface="Old Standard TT"/>
                <a:cs typeface="Old Standard TT"/>
                <a:sym typeface="Old Standard TT"/>
              </a:rPr>
              <a:t>              </a:t>
            </a:r>
            <a:endParaRPr sz="2400" b="0" i="0" u="none" strike="noStrike" cap="none" dirty="0">
              <a:solidFill>
                <a:srgbClr val="000000"/>
              </a:solidFill>
              <a:ea typeface="Old Standard TT"/>
              <a:cs typeface="Old Standard TT"/>
              <a:sym typeface="Old Standard TT"/>
            </a:endParaRPr>
          </a:p>
        </p:txBody>
      </p:sp>
    </p:spTree>
    <p:extLst>
      <p:ext uri="{BB962C8B-B14F-4D97-AF65-F5344CB8AC3E}">
        <p14:creationId xmlns:p14="http://schemas.microsoft.com/office/powerpoint/2010/main" val="2217011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930C0-852D-8BE7-8188-4F914C7135D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0F7D6-A346-619A-7A70-4672263FB8ED}"/>
              </a:ext>
            </a:extLst>
          </p:cNvPr>
          <p:cNvSpPr>
            <a:spLocks noGrp="1"/>
          </p:cNvSpPr>
          <p:nvPr>
            <p:ph type="title"/>
          </p:nvPr>
        </p:nvSpPr>
        <p:spPr/>
        <p:txBody>
          <a:bodyPr/>
          <a:lstStyle/>
          <a:p>
            <a:r>
              <a:rPr lang="ru" dirty="0"/>
              <a:t>Примеры задач (Поисковая выдача)</a:t>
            </a:r>
            <a:endParaRPr lang="ru-RU" dirty="0"/>
          </a:p>
        </p:txBody>
      </p:sp>
      <p:pic>
        <p:nvPicPr>
          <p:cNvPr id="4" name="Picture 2" descr="Picture background">
            <a:extLst>
              <a:ext uri="{FF2B5EF4-FFF2-40B4-BE49-F238E27FC236}">
                <a16:creationId xmlns:a16="http://schemas.microsoft.com/office/drawing/2014/main" id="{D227CDD2-E57E-8629-D546-96299E0C33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224;g9b3f43a947_0_1">
            <a:extLst>
              <a:ext uri="{FF2B5EF4-FFF2-40B4-BE49-F238E27FC236}">
                <a16:creationId xmlns:a16="http://schemas.microsoft.com/office/drawing/2014/main" id="{ECCF79BB-D64A-32C4-5749-C0EF6645A785}"/>
              </a:ext>
            </a:extLst>
          </p:cNvPr>
          <p:cNvSpPr txBox="1"/>
          <p:nvPr/>
        </p:nvSpPr>
        <p:spPr>
          <a:xfrm>
            <a:off x="717398" y="1582218"/>
            <a:ext cx="6284038" cy="3585094"/>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ru" sz="2400" b="0" i="0" u="none" strike="noStrike" cap="none" dirty="0">
                <a:solidFill>
                  <a:srgbClr val="000000"/>
                </a:solidFill>
                <a:ea typeface="Old Standard TT"/>
                <a:cs typeface="Old Standard TT"/>
                <a:sym typeface="Old Standard TT"/>
              </a:rPr>
              <a:t>Получив запрос от пользователя нужно найти наиболее полезные документы из некоторой базы.</a:t>
            </a: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400"/>
              <a:buFont typeface="Arial"/>
              <a:buNone/>
            </a:pPr>
            <a:r>
              <a:rPr lang="ru" sz="2400" b="0" i="0" u="none" strike="noStrike" cap="none" dirty="0">
                <a:solidFill>
                  <a:srgbClr val="000000"/>
                </a:solidFill>
                <a:ea typeface="Old Standard TT"/>
                <a:cs typeface="Old Standard TT"/>
                <a:sym typeface="Old Standard TT"/>
              </a:rPr>
              <a:t>Что нам известно:</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Запрос пользователя.</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Текст документа.</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Какие ключевые слова есть в каждом документе.</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Насколько каждый документ популярен.</a:t>
            </a:r>
            <a:endParaRPr sz="2400" b="0" i="0" u="none" strike="noStrike" cap="none" dirty="0">
              <a:solidFill>
                <a:srgbClr val="000000"/>
              </a:solidFill>
              <a:ea typeface="Old Standard TT"/>
              <a:cs typeface="Old Standard TT"/>
              <a:sym typeface="Old Standard TT"/>
            </a:endParaRPr>
          </a:p>
          <a:p>
            <a:pPr marL="457200" marR="0" lvl="0" indent="-317500" algn="l" rtl="0">
              <a:lnSpc>
                <a:spcPct val="100000"/>
              </a:lnSpc>
              <a:spcBef>
                <a:spcPts val="0"/>
              </a:spcBef>
              <a:spcAft>
                <a:spcPts val="0"/>
              </a:spcAft>
              <a:buClr>
                <a:srgbClr val="000000"/>
              </a:buClr>
              <a:buSzPts val="1400"/>
              <a:buFont typeface="Old Standard TT"/>
              <a:buChar char="●"/>
            </a:pPr>
            <a:r>
              <a:rPr lang="ru" sz="2400" b="0" i="0" u="none" strike="noStrike" cap="none" dirty="0">
                <a:solidFill>
                  <a:srgbClr val="000000"/>
                </a:solidFill>
                <a:ea typeface="Old Standard TT"/>
                <a:cs typeface="Old Standard TT"/>
                <a:sym typeface="Old Standard TT"/>
              </a:rPr>
              <a:t>итд.</a:t>
            </a:r>
            <a:endParaRPr sz="2400" b="0" i="0" u="none" strike="noStrike" cap="none" dirty="0">
              <a:solidFill>
                <a:srgbClr val="000000"/>
              </a:solidFill>
              <a:ea typeface="Old Standard TT"/>
              <a:cs typeface="Old Standard TT"/>
              <a:sym typeface="Old Standard TT"/>
            </a:endParaRPr>
          </a:p>
        </p:txBody>
      </p:sp>
      <p:sp>
        <p:nvSpPr>
          <p:cNvPr id="6" name="Google Shape;223;g9b3f43a947_0_1">
            <a:extLst>
              <a:ext uri="{FF2B5EF4-FFF2-40B4-BE49-F238E27FC236}">
                <a16:creationId xmlns:a16="http://schemas.microsoft.com/office/drawing/2014/main" id="{7DB4ECD2-CA8C-9A7F-A9F5-DB0DE8FAEA31}"/>
              </a:ext>
            </a:extLst>
          </p:cNvPr>
          <p:cNvSpPr txBox="1"/>
          <p:nvPr/>
        </p:nvSpPr>
        <p:spPr>
          <a:xfrm>
            <a:off x="6789406" y="1690688"/>
            <a:ext cx="4685195" cy="3867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ru" sz="2400" b="1" i="0" u="none" strike="noStrike" cap="none" dirty="0">
                <a:solidFill>
                  <a:srgbClr val="000000"/>
                </a:solidFill>
                <a:ea typeface="Old Standard TT"/>
                <a:cs typeface="Old Standard TT"/>
                <a:sym typeface="Old Standard TT"/>
              </a:rPr>
              <a:t>Какая это задача?</a:t>
            </a:r>
            <a:endParaRPr sz="2400" b="1"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endParaRPr lang="en-US" sz="2400" b="1"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 sz="2400" b="1" i="0" u="none" strike="noStrike" cap="none" dirty="0">
                <a:solidFill>
                  <a:srgbClr val="000000"/>
                </a:solidFill>
                <a:ea typeface="Old Standard TT"/>
                <a:cs typeface="Old Standard TT"/>
                <a:sym typeface="Old Standard TT"/>
              </a:rPr>
              <a:t>Какие есть признаки?</a:t>
            </a:r>
            <a:endParaRPr sz="2400" b="1"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RU" sz="2400" dirty="0">
                <a:solidFill>
                  <a:srgbClr val="000000"/>
                </a:solidFill>
                <a:ea typeface="Old Standard TT"/>
                <a:cs typeface="Old Standard TT"/>
                <a:sym typeface="Old Standard TT"/>
              </a:rPr>
              <a:t>Вопрос со звёздочкой</a:t>
            </a:r>
            <a:r>
              <a:rPr lang="ru" sz="2400" b="0" i="0" u="none" strike="noStrike" cap="none" dirty="0">
                <a:solidFill>
                  <a:srgbClr val="000000"/>
                </a:solidFill>
                <a:ea typeface="Old Standard TT"/>
                <a:cs typeface="Old Standard TT"/>
                <a:sym typeface="Old Standard TT"/>
              </a:rPr>
              <a:t>              </a:t>
            </a:r>
            <a:endParaRPr sz="2400" b="0" i="0" u="none" strike="noStrike" cap="none" dirty="0">
              <a:solidFill>
                <a:srgbClr val="000000"/>
              </a:solidFill>
              <a:ea typeface="Old Standard TT"/>
              <a:cs typeface="Old Standard TT"/>
              <a:sym typeface="Old Standard TT"/>
            </a:endParaRPr>
          </a:p>
        </p:txBody>
      </p:sp>
      <p:sp>
        <p:nvSpPr>
          <p:cNvPr id="7" name="Google Shape;223;g9b3f43a947_0_1">
            <a:extLst>
              <a:ext uri="{FF2B5EF4-FFF2-40B4-BE49-F238E27FC236}">
                <a16:creationId xmlns:a16="http://schemas.microsoft.com/office/drawing/2014/main" id="{7DB4ECD2-CA8C-9A7F-A9F5-DB0DE8FAEA31}"/>
              </a:ext>
            </a:extLst>
          </p:cNvPr>
          <p:cNvSpPr txBox="1"/>
          <p:nvPr/>
        </p:nvSpPr>
        <p:spPr>
          <a:xfrm>
            <a:off x="6789406" y="1690688"/>
            <a:ext cx="4685195" cy="20924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en-US" sz="2400" b="1"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 sz="2400" b="0" i="0" u="none" strike="noStrike" cap="none" dirty="0">
                <a:solidFill>
                  <a:srgbClr val="000000"/>
                </a:solidFill>
                <a:ea typeface="Old Standard TT"/>
                <a:cs typeface="Old Standard TT"/>
                <a:sym typeface="Old Standard TT"/>
              </a:rPr>
              <a:t>Задача ранжирования.</a:t>
            </a: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endParaRPr sz="2400" b="0"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endParaRPr lang="en-US" sz="2400" b="1" i="0" u="none" strike="noStrike" cap="none" dirty="0">
              <a:solidFill>
                <a:srgbClr val="000000"/>
              </a:solidFill>
              <a:ea typeface="Old Standard TT"/>
              <a:cs typeface="Old Standard TT"/>
              <a:sym typeface="Old Standard TT"/>
            </a:endParaRPr>
          </a:p>
          <a:p>
            <a:pPr marL="0" marR="0" lvl="0" indent="0" algn="l" rtl="0">
              <a:lnSpc>
                <a:spcPct val="100000"/>
              </a:lnSpc>
              <a:spcBef>
                <a:spcPts val="0"/>
              </a:spcBef>
              <a:spcAft>
                <a:spcPts val="0"/>
              </a:spcAft>
              <a:buClr>
                <a:srgbClr val="000000"/>
              </a:buClr>
              <a:buSzPts val="1800"/>
              <a:buFont typeface="Arial"/>
              <a:buNone/>
            </a:pPr>
            <a:r>
              <a:rPr lang="ru" sz="2400" b="0" i="0" u="none" strike="noStrike" cap="none" dirty="0">
                <a:solidFill>
                  <a:srgbClr val="000000"/>
                </a:solidFill>
                <a:ea typeface="Old Standard TT"/>
                <a:cs typeface="Old Standard TT"/>
                <a:sym typeface="Old Standard TT"/>
              </a:rPr>
              <a:t>              </a:t>
            </a:r>
            <a:endParaRPr sz="2400" b="0" i="0" u="none" strike="noStrike" cap="none" dirty="0">
              <a:solidFill>
                <a:srgbClr val="000000"/>
              </a:solidFill>
              <a:ea typeface="Old Standard TT"/>
              <a:cs typeface="Old Standard TT"/>
              <a:sym typeface="Old Standard TT"/>
            </a:endParaRPr>
          </a:p>
        </p:txBody>
      </p:sp>
    </p:spTree>
    <p:extLst>
      <p:ext uri="{BB962C8B-B14F-4D97-AF65-F5344CB8AC3E}">
        <p14:creationId xmlns:p14="http://schemas.microsoft.com/office/powerpoint/2010/main" val="235942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99564-7294-7C96-DE3D-3542D098120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C9D495-1366-7F2C-F325-2C3205B687B3}"/>
              </a:ext>
            </a:extLst>
          </p:cNvPr>
          <p:cNvSpPr>
            <a:spLocks noGrp="1"/>
          </p:cNvSpPr>
          <p:nvPr>
            <p:ph type="title"/>
          </p:nvPr>
        </p:nvSpPr>
        <p:spPr/>
        <p:txBody>
          <a:bodyPr/>
          <a:lstStyle/>
          <a:p>
            <a:r>
              <a:rPr lang="ru" dirty="0"/>
              <a:t>K-Nearest Neighbors (</a:t>
            </a:r>
            <a:r>
              <a:rPr lang="en-US" dirty="0"/>
              <a:t>KNN)</a:t>
            </a:r>
            <a:endParaRPr lang="ru-RU" dirty="0"/>
          </a:p>
        </p:txBody>
      </p:sp>
      <p:pic>
        <p:nvPicPr>
          <p:cNvPr id="4" name="Picture 2" descr="Picture background">
            <a:extLst>
              <a:ext uri="{FF2B5EF4-FFF2-40B4-BE49-F238E27FC236}">
                <a16:creationId xmlns:a16="http://schemas.microsoft.com/office/drawing/2014/main" id="{88745351-EE33-A987-75C2-9AECD5A7B7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FC8C0B57-C6D5-178F-2021-28F52293D517}"/>
              </a:ext>
            </a:extLst>
          </p:cNvPr>
          <p:cNvSpPr>
            <a:spLocks noGrp="1"/>
          </p:cNvSpPr>
          <p:nvPr>
            <p:ph idx="1"/>
          </p:nvPr>
        </p:nvSpPr>
        <p:spPr>
          <a:xfrm>
            <a:off x="838200" y="1690688"/>
            <a:ext cx="9677400" cy="4405312"/>
          </a:xfrm>
        </p:spPr>
        <p:txBody>
          <a:bodyPr>
            <a:normAutofit/>
          </a:bodyPr>
          <a:lstStyle/>
          <a:p>
            <a:pPr marL="0" indent="0">
              <a:buNone/>
            </a:pPr>
            <a:r>
              <a:rPr lang="ru-RU" sz="2400" dirty="0"/>
              <a:t>Задача классификации или регрессии:</a:t>
            </a:r>
          </a:p>
          <a:p>
            <a:pPr marL="0" indent="0">
              <a:buNone/>
            </a:pPr>
            <a:r>
              <a:rPr lang="ru-RU" sz="2400" dirty="0"/>
              <a:t>Обучение: Просто запоминаем обучающую выборку</a:t>
            </a:r>
          </a:p>
          <a:p>
            <a:pPr marL="0" indent="0">
              <a:buNone/>
            </a:pPr>
            <a:endParaRPr lang="ru-RU" sz="2400" dirty="0"/>
          </a:p>
          <a:p>
            <a:pPr marL="0" indent="0">
              <a:buNone/>
            </a:pPr>
            <a:r>
              <a:rPr lang="ru-RU" sz="2400" dirty="0"/>
              <a:t>Предсказание:</a:t>
            </a:r>
          </a:p>
          <a:p>
            <a:pPr marL="0" indent="0">
              <a:buNone/>
            </a:pPr>
            <a:r>
              <a:rPr lang="ru-RU" sz="2400" dirty="0"/>
              <a:t>Получаем точку х, в которой надо сделать предсказание</a:t>
            </a:r>
          </a:p>
          <a:p>
            <a:pPr marL="0" indent="0">
              <a:buNone/>
            </a:pPr>
            <a:r>
              <a:rPr lang="ru-RU" sz="2400" dirty="0"/>
              <a:t>Ищем k ближайших соседей</a:t>
            </a:r>
          </a:p>
          <a:p>
            <a:pPr marL="0" indent="0">
              <a:buNone/>
            </a:pPr>
            <a:r>
              <a:rPr lang="ru-RU" sz="2400" dirty="0"/>
              <a:t>В качестве ответа возвращаем класс, которого больше всего </a:t>
            </a:r>
            <a:br>
              <a:rPr lang="ru-RU" sz="2400" dirty="0"/>
            </a:br>
            <a:r>
              <a:rPr lang="ru-RU" sz="2400" dirty="0"/>
              <a:t>среди соседей</a:t>
            </a:r>
          </a:p>
          <a:p>
            <a:pPr marL="0" indent="0">
              <a:buNone/>
            </a:pPr>
            <a:r>
              <a:rPr lang="ru-RU" sz="2400" b="1" dirty="0"/>
              <a:t>Минусы?</a:t>
            </a:r>
          </a:p>
        </p:txBody>
      </p:sp>
      <p:pic>
        <p:nvPicPr>
          <p:cNvPr id="7" name="Google Shape;242;g9b3f43a947_2_4">
            <a:extLst>
              <a:ext uri="{FF2B5EF4-FFF2-40B4-BE49-F238E27FC236}">
                <a16:creationId xmlns:a16="http://schemas.microsoft.com/office/drawing/2014/main" id="{1A7F0AFF-76C1-135F-1C60-1C47F17E8EDC}"/>
              </a:ext>
            </a:extLst>
          </p:cNvPr>
          <p:cNvPicPr preferRelativeResize="0"/>
          <p:nvPr/>
        </p:nvPicPr>
        <p:blipFill rotWithShape="1">
          <a:blip r:embed="rId3">
            <a:alphaModFix/>
          </a:blip>
          <a:srcRect/>
          <a:stretch/>
        </p:blipFill>
        <p:spPr>
          <a:xfrm>
            <a:off x="8471647" y="815420"/>
            <a:ext cx="3301253" cy="2940792"/>
          </a:xfrm>
          <a:prstGeom prst="rect">
            <a:avLst/>
          </a:prstGeom>
          <a:noFill/>
          <a:ln>
            <a:noFill/>
          </a:ln>
        </p:spPr>
      </p:pic>
      <p:pic>
        <p:nvPicPr>
          <p:cNvPr id="8" name="Google Shape;243;g9b3f43a947_2_4">
            <a:extLst>
              <a:ext uri="{FF2B5EF4-FFF2-40B4-BE49-F238E27FC236}">
                <a16:creationId xmlns:a16="http://schemas.microsoft.com/office/drawing/2014/main" id="{DA6BC30B-C244-C06B-9CCE-43C6D39EB4CE}"/>
              </a:ext>
            </a:extLst>
          </p:cNvPr>
          <p:cNvPicPr preferRelativeResize="0"/>
          <p:nvPr/>
        </p:nvPicPr>
        <p:blipFill rotWithShape="1">
          <a:blip r:embed="rId4">
            <a:alphaModFix/>
          </a:blip>
          <a:srcRect/>
          <a:stretch/>
        </p:blipFill>
        <p:spPr>
          <a:xfrm>
            <a:off x="9079894" y="3893344"/>
            <a:ext cx="2871412" cy="2202656"/>
          </a:xfrm>
          <a:prstGeom prst="rect">
            <a:avLst/>
          </a:prstGeom>
          <a:noFill/>
          <a:ln>
            <a:noFill/>
          </a:ln>
        </p:spPr>
      </p:pic>
    </p:spTree>
    <p:extLst>
      <p:ext uri="{BB962C8B-B14F-4D97-AF65-F5344CB8AC3E}">
        <p14:creationId xmlns:p14="http://schemas.microsoft.com/office/powerpoint/2010/main" val="1342214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237E4-8882-D217-19D5-11D4D6A8237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4AB7BB-DABD-7B50-ADFB-196E5193A78A}"/>
              </a:ext>
            </a:extLst>
          </p:cNvPr>
          <p:cNvSpPr>
            <a:spLocks noGrp="1"/>
          </p:cNvSpPr>
          <p:nvPr>
            <p:ph type="title"/>
          </p:nvPr>
        </p:nvSpPr>
        <p:spPr/>
        <p:txBody>
          <a:bodyPr/>
          <a:lstStyle/>
          <a:p>
            <a:r>
              <a:rPr lang="ru" dirty="0"/>
              <a:t>Curse of Dimensionality</a:t>
            </a:r>
            <a:endParaRPr lang="ru-RU" dirty="0"/>
          </a:p>
        </p:txBody>
      </p:sp>
      <p:pic>
        <p:nvPicPr>
          <p:cNvPr id="4" name="Picture 2" descr="Picture background">
            <a:extLst>
              <a:ext uri="{FF2B5EF4-FFF2-40B4-BE49-F238E27FC236}">
                <a16:creationId xmlns:a16="http://schemas.microsoft.com/office/drawing/2014/main" id="{2A299A65-3EB8-AA18-AF58-A19EBCD4A1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614C3E26-BEF9-353E-C722-56D076DDAD6B}"/>
              </a:ext>
            </a:extLst>
          </p:cNvPr>
          <p:cNvSpPr>
            <a:spLocks noGrp="1"/>
          </p:cNvSpPr>
          <p:nvPr>
            <p:ph idx="1"/>
          </p:nvPr>
        </p:nvSpPr>
        <p:spPr>
          <a:xfrm>
            <a:off x="838200" y="1690687"/>
            <a:ext cx="10869706" cy="3607453"/>
          </a:xfrm>
        </p:spPr>
        <p:txBody>
          <a:bodyPr>
            <a:normAutofit/>
          </a:bodyPr>
          <a:lstStyle/>
          <a:p>
            <a:pPr marL="0" indent="0">
              <a:buNone/>
            </a:pPr>
            <a:r>
              <a:rPr lang="ru-RU" sz="2400" dirty="0"/>
              <a:t>В KNN мы делаем очень слабое предположение: близкие точки будут иметь близкие ответы.</a:t>
            </a:r>
          </a:p>
          <a:p>
            <a:pPr marL="0" indent="0">
              <a:buNone/>
            </a:pPr>
            <a:r>
              <a:rPr lang="ru-RU" sz="2400" dirty="0"/>
              <a:t>При большой размерности данных в близкую область попадет мало объектов.</a:t>
            </a:r>
          </a:p>
          <a:p>
            <a:pPr marL="0" indent="0">
              <a:buNone/>
            </a:pPr>
            <a:endParaRPr lang="ru-RU" sz="2400" dirty="0"/>
          </a:p>
        </p:txBody>
      </p:sp>
      <p:pic>
        <p:nvPicPr>
          <p:cNvPr id="5" name="Google Shape;250;g9b3f43a947_2_12">
            <a:extLst>
              <a:ext uri="{FF2B5EF4-FFF2-40B4-BE49-F238E27FC236}">
                <a16:creationId xmlns:a16="http://schemas.microsoft.com/office/drawing/2014/main" id="{EB5D142F-7E84-FE57-0657-885A78B026B7}"/>
              </a:ext>
            </a:extLst>
          </p:cNvPr>
          <p:cNvPicPr preferRelativeResize="0"/>
          <p:nvPr/>
        </p:nvPicPr>
        <p:blipFill rotWithShape="1">
          <a:blip r:embed="rId3">
            <a:alphaModFix/>
          </a:blip>
          <a:srcRect/>
          <a:stretch/>
        </p:blipFill>
        <p:spPr>
          <a:xfrm>
            <a:off x="2467675" y="3104890"/>
            <a:ext cx="7492114" cy="2632521"/>
          </a:xfrm>
          <a:prstGeom prst="rect">
            <a:avLst/>
          </a:prstGeom>
          <a:noFill/>
          <a:ln>
            <a:noFill/>
          </a:ln>
        </p:spPr>
      </p:pic>
      <p:sp>
        <p:nvSpPr>
          <p:cNvPr id="6" name="Google Shape;251;g9b3f43a947_2_12">
            <a:extLst>
              <a:ext uri="{FF2B5EF4-FFF2-40B4-BE49-F238E27FC236}">
                <a16:creationId xmlns:a16="http://schemas.microsoft.com/office/drawing/2014/main" id="{2C432E62-DAF6-A1EB-B639-7473A62BB3DB}"/>
              </a:ext>
            </a:extLst>
          </p:cNvPr>
          <p:cNvSpPr txBox="1"/>
          <p:nvPr/>
        </p:nvSpPr>
        <p:spPr>
          <a:xfrm>
            <a:off x="2232211" y="5271982"/>
            <a:ext cx="1972085" cy="677408"/>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ru-RU" sz="2400" b="0" i="0" u="none" strike="noStrike" kern="1200" cap="none" spc="0" normalizeH="0" baseline="0" noProof="0" dirty="0">
                <a:ln>
                  <a:noFill/>
                </a:ln>
                <a:solidFill>
                  <a:srgbClr val="434343"/>
                </a:solidFill>
                <a:effectLst/>
                <a:uLnTx/>
                <a:uFillTx/>
                <a:latin typeface="Calibri" panose="020F0502020204030204"/>
                <a:ea typeface="Old Standard TT"/>
                <a:cs typeface="Old Standard TT"/>
                <a:sym typeface="Old Standard TT"/>
              </a:rPr>
              <a:t>Два признака</a:t>
            </a:r>
          </a:p>
        </p:txBody>
      </p:sp>
      <p:sp>
        <p:nvSpPr>
          <p:cNvPr id="7" name="Google Shape;252;g9b3f43a947_2_12">
            <a:extLst>
              <a:ext uri="{FF2B5EF4-FFF2-40B4-BE49-F238E27FC236}">
                <a16:creationId xmlns:a16="http://schemas.microsoft.com/office/drawing/2014/main" id="{854EE4E9-6B09-0C34-7297-410C88B710AC}"/>
              </a:ext>
            </a:extLst>
          </p:cNvPr>
          <p:cNvSpPr txBox="1"/>
          <p:nvPr/>
        </p:nvSpPr>
        <p:spPr>
          <a:xfrm>
            <a:off x="4939404" y="5466801"/>
            <a:ext cx="1972085" cy="677408"/>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ru" sz="2400" b="0" i="0" u="none" strike="noStrike" cap="none" dirty="0">
                <a:solidFill>
                  <a:srgbClr val="434343"/>
                </a:solidFill>
                <a:ea typeface="Old Standard TT"/>
                <a:cs typeface="Old Standard TT"/>
                <a:sym typeface="Old Standard TT"/>
              </a:rPr>
              <a:t>Три признака</a:t>
            </a:r>
            <a:endParaRPr sz="2400" b="0" i="0" u="none" strike="noStrike" cap="none" dirty="0">
              <a:solidFill>
                <a:srgbClr val="434343"/>
              </a:solidFill>
              <a:ea typeface="Old Standard TT"/>
              <a:cs typeface="Old Standard TT"/>
              <a:sym typeface="Old Standard TT"/>
            </a:endParaRPr>
          </a:p>
        </p:txBody>
      </p:sp>
      <p:sp>
        <p:nvSpPr>
          <p:cNvPr id="8" name="Google Shape;253;g9b3f43a947_2_12">
            <a:extLst>
              <a:ext uri="{FF2B5EF4-FFF2-40B4-BE49-F238E27FC236}">
                <a16:creationId xmlns:a16="http://schemas.microsoft.com/office/drawing/2014/main" id="{3608F316-0909-3681-E02E-6B504298EC1A}"/>
              </a:ext>
            </a:extLst>
          </p:cNvPr>
          <p:cNvSpPr txBox="1"/>
          <p:nvPr/>
        </p:nvSpPr>
        <p:spPr>
          <a:xfrm>
            <a:off x="7423151" y="5602106"/>
            <a:ext cx="2707192" cy="677408"/>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ru-RU" sz="2400" b="0" i="0" u="none" strike="noStrike" kern="1200" cap="none" spc="0" normalizeH="0" baseline="0" noProof="0" dirty="0">
                <a:ln>
                  <a:noFill/>
                </a:ln>
                <a:solidFill>
                  <a:srgbClr val="434343"/>
                </a:solidFill>
                <a:effectLst/>
                <a:uLnTx/>
                <a:uFillTx/>
                <a:latin typeface="Calibri" panose="020F0502020204030204"/>
                <a:ea typeface="Old Standard TT"/>
                <a:cs typeface="Old Standard TT"/>
                <a:sym typeface="Old Standard TT"/>
              </a:rPr>
              <a:t>Десятки признака</a:t>
            </a:r>
          </a:p>
        </p:txBody>
      </p:sp>
    </p:spTree>
    <p:extLst>
      <p:ext uri="{BB962C8B-B14F-4D97-AF65-F5344CB8AC3E}">
        <p14:creationId xmlns:p14="http://schemas.microsoft.com/office/powerpoint/2010/main" val="58786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40945-8CF2-D660-5C77-5E5D4257DD5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105A7F-1514-551D-866E-613AF425B227}"/>
              </a:ext>
            </a:extLst>
          </p:cNvPr>
          <p:cNvSpPr>
            <a:spLocks noGrp="1"/>
          </p:cNvSpPr>
          <p:nvPr>
            <p:ph type="title"/>
          </p:nvPr>
        </p:nvSpPr>
        <p:spPr/>
        <p:txBody>
          <a:bodyPr/>
          <a:lstStyle/>
          <a:p>
            <a:r>
              <a:rPr lang="ru" dirty="0"/>
              <a:t>Feature Scale</a:t>
            </a:r>
            <a:endParaRPr lang="ru-RU" dirty="0"/>
          </a:p>
        </p:txBody>
      </p:sp>
      <p:pic>
        <p:nvPicPr>
          <p:cNvPr id="4" name="Picture 2" descr="Picture background">
            <a:extLst>
              <a:ext uri="{FF2B5EF4-FFF2-40B4-BE49-F238E27FC236}">
                <a16:creationId xmlns:a16="http://schemas.microsoft.com/office/drawing/2014/main" id="{DED003D9-13DD-3E40-BF5A-6BE8C03A33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A0B3AF2-63E7-B112-BF52-516A3576833C}"/>
                  </a:ext>
                </a:extLst>
              </p:cNvPr>
              <p:cNvSpPr>
                <a:spLocks noGrp="1"/>
              </p:cNvSpPr>
              <p:nvPr>
                <p:ph idx="1"/>
              </p:nvPr>
            </p:nvSpPr>
            <p:spPr>
              <a:xfrm>
                <a:off x="838200" y="1690687"/>
                <a:ext cx="10869706" cy="4154301"/>
              </a:xfrm>
            </p:spPr>
            <p:txBody>
              <a:bodyPr>
                <a:normAutofit/>
              </a:bodyPr>
              <a:lstStyle/>
              <a:p>
                <a:pPr marL="0" indent="0">
                  <a:buNone/>
                </a:pPr>
                <a:r>
                  <a:rPr lang="ru-RU" sz="2400" dirty="0"/>
                  <a:t>Если в качестве метрики взять обычное расстояние между </a:t>
                </a:r>
                <a:br>
                  <a:rPr lang="ru-RU" sz="2400" dirty="0"/>
                </a:br>
                <a:r>
                  <a:rPr lang="ru-RU" sz="2400" dirty="0"/>
                  <a:t>векторами, то возникает проблема масштаба признаков.</a:t>
                </a:r>
              </a:p>
              <a:p>
                <a:pPr marL="0" indent="0">
                  <a:buNone/>
                </a:pPr>
                <a:r>
                  <a:rPr lang="ru-RU" sz="2400" dirty="0"/>
                  <a:t>Пример: </a:t>
                </a:r>
              </a:p>
              <a:p>
                <a:pPr marL="0" indent="0">
                  <a:buNone/>
                </a:pPr>
                <a:r>
                  <a:rPr lang="ru-RU" sz="2400" dirty="0"/>
                  <a:t>Задача определения стоимости дома по признакам:</a:t>
                </a:r>
              </a:p>
              <a:p>
                <a:r>
                  <a:rPr lang="ru-RU" sz="2400" dirty="0"/>
                  <a:t>Расстояние до метро в метрах (</a:t>
                </a:r>
                <a14:m>
                  <m:oMath xmlns:m="http://schemas.openxmlformats.org/officeDocument/2006/math">
                    <m:sSub>
                      <m:sSubPr>
                        <m:ctrlPr>
                          <a:rPr lang="ru-RU"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2</m:t>
                        </m:r>
                      </m:sub>
                    </m:sSub>
                  </m:oMath>
                </a14:m>
                <a:r>
                  <a:rPr lang="en-US" sz="2400" dirty="0"/>
                  <a:t>)</a:t>
                </a:r>
                <a:endParaRPr lang="ru-RU" sz="2400" dirty="0"/>
              </a:p>
              <a:p>
                <a:r>
                  <a:rPr lang="ru-RU" sz="2400" dirty="0"/>
                  <a:t>Количество комнат (</a:t>
                </a:r>
                <a14:m>
                  <m:oMath xmlns:m="http://schemas.openxmlformats.org/officeDocument/2006/math">
                    <m:sSub>
                      <m:sSubPr>
                        <m:ctrlPr>
                          <a:rPr lang="ru-RU" sz="2400" i="1">
                            <a:latin typeface="Cambria Math" panose="02040503050406030204" pitchFamily="18" charset="0"/>
                          </a:rPr>
                        </m:ctrlPr>
                      </m:sSubPr>
                      <m:e>
                        <m:r>
                          <a:rPr lang="en-US" sz="2400" i="1">
                            <a:latin typeface="Cambria Math" panose="02040503050406030204" pitchFamily="18" charset="0"/>
                          </a:rPr>
                          <m:t>𝑋</m:t>
                        </m:r>
                      </m:e>
                      <m:sub>
                        <m:r>
                          <a:rPr lang="en-US" sz="2400" b="0" i="1" smtClean="0">
                            <a:latin typeface="Cambria Math" panose="02040503050406030204" pitchFamily="18" charset="0"/>
                          </a:rPr>
                          <m:t>1</m:t>
                        </m:r>
                      </m:sub>
                    </m:sSub>
                  </m:oMath>
                </a14:m>
                <a:r>
                  <a:rPr lang="en-US" sz="2400" dirty="0"/>
                  <a:t>)</a:t>
                </a:r>
                <a:endParaRPr lang="ru-RU" sz="2400" dirty="0"/>
              </a:p>
              <a:p>
                <a:pPr marL="0" indent="0">
                  <a:buNone/>
                </a:pPr>
                <a:endParaRPr lang="ru-RU" sz="2400" dirty="0"/>
              </a:p>
              <a:p>
                <a:pPr marL="0" indent="0">
                  <a:buNone/>
                </a:pPr>
                <a:r>
                  <a:rPr lang="ru-RU" sz="2400" dirty="0"/>
                  <a:t>Количество комнат почти не будет влиять на предсказание</a:t>
                </a:r>
              </a:p>
            </p:txBody>
          </p:sp>
        </mc:Choice>
        <mc:Fallback xmlns="">
          <p:sp>
            <p:nvSpPr>
              <p:cNvPr id="3" name="Объект 2">
                <a:extLst>
                  <a:ext uri="{FF2B5EF4-FFF2-40B4-BE49-F238E27FC236}">
                    <a16:creationId xmlns:a16="http://schemas.microsoft.com/office/drawing/2014/main" id="{BA0B3AF2-63E7-B112-BF52-516A3576833C}"/>
                  </a:ext>
                </a:extLst>
              </p:cNvPr>
              <p:cNvSpPr>
                <a:spLocks noGrp="1" noRot="1" noChangeAspect="1" noMove="1" noResize="1" noEditPoints="1" noAdjustHandles="1" noChangeArrowheads="1" noChangeShapeType="1" noTextEdit="1"/>
              </p:cNvSpPr>
              <p:nvPr>
                <p:ph idx="1"/>
              </p:nvPr>
            </p:nvSpPr>
            <p:spPr>
              <a:xfrm>
                <a:off x="838200" y="1690687"/>
                <a:ext cx="10869706" cy="4154301"/>
              </a:xfrm>
              <a:blipFill>
                <a:blip r:embed="rId3"/>
                <a:stretch>
                  <a:fillRect l="-897" t="-2053"/>
                </a:stretch>
              </a:blipFill>
            </p:spPr>
            <p:txBody>
              <a:bodyPr/>
              <a:lstStyle/>
              <a:p>
                <a:r>
                  <a:rPr lang="ru-RU">
                    <a:noFill/>
                  </a:rPr>
                  <a:t> </a:t>
                </a:r>
              </a:p>
            </p:txBody>
          </p:sp>
        </mc:Fallback>
      </mc:AlternateContent>
      <p:pic>
        <p:nvPicPr>
          <p:cNvPr id="6" name="Google Shape;260;g9b3f43a947_2_21" descr="Why do you need to scale data in KNN - Cross Validated">
            <a:extLst>
              <a:ext uri="{FF2B5EF4-FFF2-40B4-BE49-F238E27FC236}">
                <a16:creationId xmlns:a16="http://schemas.microsoft.com/office/drawing/2014/main" id="{181B8A25-26B8-4869-C90A-4F8F3DFA3635}"/>
              </a:ext>
            </a:extLst>
          </p:cNvPr>
          <p:cNvPicPr preferRelativeResize="0"/>
          <p:nvPr/>
        </p:nvPicPr>
        <p:blipFill rotWithShape="1">
          <a:blip r:embed="rId4">
            <a:alphaModFix/>
          </a:blip>
          <a:srcRect l="1" r="45632" b="803"/>
          <a:stretch>
            <a:fillRect/>
          </a:stretch>
        </p:blipFill>
        <p:spPr>
          <a:xfrm>
            <a:off x="8718177" y="1471745"/>
            <a:ext cx="3397624" cy="4624255"/>
          </a:xfrm>
          <a:prstGeom prst="rect">
            <a:avLst/>
          </a:prstGeom>
          <a:noFill/>
          <a:ln w="9525" cap="flat" cmpd="sng">
            <a:solidFill>
              <a:srgbClr val="000000"/>
            </a:solidFill>
            <a:prstDash val="solid"/>
            <a:round/>
            <a:headEnd type="none" w="sm" len="sm"/>
            <a:tailEnd type="none" w="sm" len="sm"/>
          </a:ln>
        </p:spPr>
      </p:pic>
    </p:spTree>
    <p:extLst>
      <p:ext uri="{BB962C8B-B14F-4D97-AF65-F5344CB8AC3E}">
        <p14:creationId xmlns:p14="http://schemas.microsoft.com/office/powerpoint/2010/main" val="3763621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D1599-3F38-68B8-0103-EB363DD397D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7A1137-F569-E0D5-743F-661D9414AB70}"/>
              </a:ext>
            </a:extLst>
          </p:cNvPr>
          <p:cNvSpPr>
            <a:spLocks noGrp="1"/>
          </p:cNvSpPr>
          <p:nvPr>
            <p:ph type="title"/>
          </p:nvPr>
        </p:nvSpPr>
        <p:spPr/>
        <p:txBody>
          <a:bodyPr/>
          <a:lstStyle/>
          <a:p>
            <a:r>
              <a:rPr lang="ru" dirty="0"/>
              <a:t>Обучение с учителем (supervised learning)</a:t>
            </a:r>
            <a:endParaRPr lang="ru-RU" dirty="0"/>
          </a:p>
        </p:txBody>
      </p:sp>
      <p:pic>
        <p:nvPicPr>
          <p:cNvPr id="4" name="Picture 2" descr="Picture background">
            <a:extLst>
              <a:ext uri="{FF2B5EF4-FFF2-40B4-BE49-F238E27FC236}">
                <a16:creationId xmlns:a16="http://schemas.microsoft.com/office/drawing/2014/main" id="{B0EC079E-23C4-F453-F650-7F36AC40F6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297110A-BAB9-2015-D233-6657C40E4245}"/>
                  </a:ext>
                </a:extLst>
              </p:cNvPr>
              <p:cNvSpPr>
                <a:spLocks noGrp="1"/>
              </p:cNvSpPr>
              <p:nvPr>
                <p:ph idx="1"/>
              </p:nvPr>
            </p:nvSpPr>
            <p:spPr>
              <a:xfrm>
                <a:off x="838200" y="1690687"/>
                <a:ext cx="10869706" cy="3508841"/>
              </a:xfrm>
            </p:spPr>
            <p:txBody>
              <a:bodyPr>
                <a:normAutofit/>
              </a:bodyPr>
              <a:lstStyle/>
              <a:p>
                <a:pPr marL="0" indent="0">
                  <a:buNone/>
                </a:pPr>
                <a:r>
                  <a:rPr lang="ru-RU" sz="2400" dirty="0"/>
                  <a:t>Наша задача - найти функцию хорошо приближающую реальную </a:t>
                </a:r>
              </a:p>
              <a:p>
                <a:pPr marL="0" indent="0">
                  <a:buNone/>
                </a:pPr>
                <a:r>
                  <a:rPr lang="ru-RU" sz="2400" dirty="0"/>
                  <a:t>зависимость</a:t>
                </a:r>
                <a:r>
                  <a:rPr lang="en-US" sz="2400" dirty="0"/>
                  <a:t> </a:t>
                </a:r>
                <a14:m>
                  <m:oMath xmlns:m="http://schemas.openxmlformats.org/officeDocument/2006/math">
                    <m:r>
                      <m:rPr>
                        <m:sty m:val="p"/>
                      </m:rPr>
                      <a:rPr lang="en-US" sz="2400" b="0" i="0" smtClean="0">
                        <a:latin typeface="Cambria Math" panose="02040503050406030204" pitchFamily="18" charset="0"/>
                      </a:rPr>
                      <m:t>y</m:t>
                    </m:r>
                    <m:d>
                      <m:dPr>
                        <m:ctrlPr>
                          <a:rPr lang="ru-RU" sz="2400" i="1" smtClean="0">
                            <a:latin typeface="Cambria Math" panose="02040503050406030204" pitchFamily="18" charset="0"/>
                          </a:rPr>
                        </m:ctrlPr>
                      </m:dPr>
                      <m:e>
                        <m:r>
                          <a:rPr lang="en-US" sz="2400" b="0" i="1" smtClean="0">
                            <a:latin typeface="Cambria Math" panose="02040503050406030204" pitchFamily="18" charset="0"/>
                          </a:rPr>
                          <m:t>𝑥</m:t>
                        </m:r>
                      </m:e>
                    </m:d>
                  </m:oMath>
                </a14:m>
                <a:endParaRPr lang="ru-RU" sz="2400" dirty="0"/>
              </a:p>
              <a:p>
                <a:pPr marL="0" indent="0">
                  <a:buNone/>
                </a:pPr>
                <a:r>
                  <a:rPr lang="ru-RU" sz="2400" b="1" dirty="0"/>
                  <a:t>Обучение</a:t>
                </a:r>
                <a:r>
                  <a:rPr lang="ru-RU" sz="2400" dirty="0"/>
                  <a:t> </a:t>
                </a:r>
                <a:r>
                  <a:rPr lang="en-US" sz="2400" dirty="0"/>
                  <a:t>–</a:t>
                </a:r>
                <a:r>
                  <a:rPr lang="ru-RU" sz="2400" dirty="0"/>
                  <a:t> процесс выбора параметра</a:t>
                </a:r>
                <a:r>
                  <a:rPr lang="en-US" sz="2400" dirty="0"/>
                  <a:t> </a:t>
                </a:r>
                <a:r>
                  <a:rPr lang="ru-RU" sz="2400" dirty="0"/>
                  <a:t>  , которому соответствует наиболее подходящее нам решение</a:t>
                </a:r>
                <a:r>
                  <a:rPr lang="en-US" sz="2400" dirty="0"/>
                  <a:t> </a:t>
                </a:r>
                <a:r>
                  <a:rPr lang="ru-RU" sz="2400" dirty="0"/>
                  <a:t>задачи </a:t>
                </a:r>
              </a:p>
              <a:p>
                <a:pPr marL="0" indent="0">
                  <a:buNone/>
                </a:pPr>
                <a:endParaRPr lang="ru-RU" sz="2400" dirty="0"/>
              </a:p>
              <a:p>
                <a:pPr marL="0" indent="0">
                  <a:buNone/>
                </a:pPr>
                <a:endParaRPr lang="ru-RU" sz="2400" dirty="0"/>
              </a:p>
              <a:p>
                <a:pPr marL="0" indent="0">
                  <a:buNone/>
                </a:pPr>
                <a:endParaRPr lang="ru-RU" sz="2400" dirty="0"/>
              </a:p>
            </p:txBody>
          </p:sp>
        </mc:Choice>
        <mc:Fallback xmlns="">
          <p:sp>
            <p:nvSpPr>
              <p:cNvPr id="3" name="Объект 2">
                <a:extLst>
                  <a:ext uri="{FF2B5EF4-FFF2-40B4-BE49-F238E27FC236}">
                    <a16:creationId xmlns:a16="http://schemas.microsoft.com/office/drawing/2014/main" id="{D297110A-BAB9-2015-D233-6657C40E4245}"/>
                  </a:ext>
                </a:extLst>
              </p:cNvPr>
              <p:cNvSpPr>
                <a:spLocks noGrp="1" noRot="1" noChangeAspect="1" noMove="1" noResize="1" noEditPoints="1" noAdjustHandles="1" noChangeArrowheads="1" noChangeShapeType="1" noTextEdit="1"/>
              </p:cNvSpPr>
              <p:nvPr>
                <p:ph idx="1"/>
              </p:nvPr>
            </p:nvSpPr>
            <p:spPr>
              <a:xfrm>
                <a:off x="838200" y="1690687"/>
                <a:ext cx="10869706" cy="3508841"/>
              </a:xfrm>
              <a:blipFill>
                <a:blip r:embed="rId3"/>
                <a:stretch>
                  <a:fillRect l="-897" t="-2431"/>
                </a:stretch>
              </a:blipFill>
            </p:spPr>
            <p:txBody>
              <a:bodyPr/>
              <a:lstStyle/>
              <a:p>
                <a:r>
                  <a:rPr lang="ru-RU">
                    <a:noFill/>
                  </a:rPr>
                  <a:t> </a:t>
                </a:r>
              </a:p>
            </p:txBody>
          </p:sp>
        </mc:Fallback>
      </mc:AlternateContent>
      <p:pic>
        <p:nvPicPr>
          <p:cNvPr id="5" name="Google Shape;282;p17">
            <a:extLst>
              <a:ext uri="{FF2B5EF4-FFF2-40B4-BE49-F238E27FC236}">
                <a16:creationId xmlns:a16="http://schemas.microsoft.com/office/drawing/2014/main" id="{A6F0BAA2-EF44-AAB0-5547-F73DC034E31F}"/>
              </a:ext>
            </a:extLst>
          </p:cNvPr>
          <p:cNvPicPr preferRelativeResize="0"/>
          <p:nvPr/>
        </p:nvPicPr>
        <p:blipFill rotWithShape="1">
          <a:blip r:embed="rId4">
            <a:alphaModFix/>
          </a:blip>
          <a:srcRect/>
          <a:stretch/>
        </p:blipFill>
        <p:spPr>
          <a:xfrm>
            <a:off x="6140825" y="2668124"/>
            <a:ext cx="166807" cy="249340"/>
          </a:xfrm>
          <a:prstGeom prst="rect">
            <a:avLst/>
          </a:prstGeom>
          <a:noFill/>
          <a:ln>
            <a:noFill/>
          </a:ln>
        </p:spPr>
      </p:pic>
      <p:pic>
        <p:nvPicPr>
          <p:cNvPr id="283" name="Google Shape;283;p17"/>
          <p:cNvPicPr preferRelativeResize="0"/>
          <p:nvPr/>
        </p:nvPicPr>
        <p:blipFill rotWithShape="1">
          <a:blip r:embed="rId5">
            <a:alphaModFix/>
          </a:blip>
          <a:srcRect/>
          <a:stretch/>
        </p:blipFill>
        <p:spPr>
          <a:xfrm>
            <a:off x="5460980" y="2982033"/>
            <a:ext cx="1270040" cy="344213"/>
          </a:xfrm>
          <a:prstGeom prst="rect">
            <a:avLst/>
          </a:prstGeom>
          <a:noFill/>
          <a:ln>
            <a:noFill/>
          </a:ln>
        </p:spPr>
      </p:pic>
    </p:spTree>
    <p:extLst>
      <p:ext uri="{BB962C8B-B14F-4D97-AF65-F5344CB8AC3E}">
        <p14:creationId xmlns:p14="http://schemas.microsoft.com/office/powerpoint/2010/main" val="1929733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B7310-DFE8-FF5C-33AA-BE147EC3BDB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357497-A1E0-38F7-9AFE-A365388E2C64}"/>
              </a:ext>
            </a:extLst>
          </p:cNvPr>
          <p:cNvSpPr>
            <a:spLocks noGrp="1"/>
          </p:cNvSpPr>
          <p:nvPr>
            <p:ph type="title"/>
          </p:nvPr>
        </p:nvSpPr>
        <p:spPr/>
        <p:txBody>
          <a:bodyPr/>
          <a:lstStyle/>
          <a:p>
            <a:r>
              <a:rPr lang="ru" dirty="0"/>
              <a:t>Обучение с учителем (supervised learning)</a:t>
            </a:r>
            <a:endParaRPr lang="ru-RU" dirty="0"/>
          </a:p>
        </p:txBody>
      </p:sp>
      <p:pic>
        <p:nvPicPr>
          <p:cNvPr id="4" name="Picture 2" descr="Picture background">
            <a:extLst>
              <a:ext uri="{FF2B5EF4-FFF2-40B4-BE49-F238E27FC236}">
                <a16:creationId xmlns:a16="http://schemas.microsoft.com/office/drawing/2014/main" id="{5E264779-9BC5-4020-A941-B10A72004E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DDA45B82-9A02-D6E1-6CFA-F0C5911C9C8B}"/>
              </a:ext>
            </a:extLst>
          </p:cNvPr>
          <p:cNvSpPr>
            <a:spLocks noGrp="1"/>
          </p:cNvSpPr>
          <p:nvPr>
            <p:ph idx="1"/>
          </p:nvPr>
        </p:nvSpPr>
        <p:spPr>
          <a:xfrm>
            <a:off x="838200" y="1690688"/>
            <a:ext cx="10869706" cy="3768818"/>
          </a:xfrm>
        </p:spPr>
        <p:txBody>
          <a:bodyPr>
            <a:normAutofit/>
          </a:bodyPr>
          <a:lstStyle/>
          <a:p>
            <a:pPr marL="0" indent="0">
              <a:buNone/>
            </a:pPr>
            <a:r>
              <a:rPr lang="ru-RU" sz="2400" b="1" dirty="0"/>
              <a:t>Функция потерь (</a:t>
            </a:r>
            <a:r>
              <a:rPr lang="ru-RU" sz="2400" b="1" dirty="0" err="1"/>
              <a:t>loss</a:t>
            </a:r>
            <a:r>
              <a:rPr lang="ru-RU" sz="2400" b="1" dirty="0"/>
              <a:t>):</a:t>
            </a:r>
          </a:p>
          <a:p>
            <a:pPr marL="0" indent="0">
              <a:buNone/>
            </a:pPr>
            <a:r>
              <a:rPr lang="ru-RU" sz="2400" dirty="0"/>
              <a:t>Определим функцию                 , ее значение показывает насколько сильно наше предсказание отличается от реального значения.</a:t>
            </a:r>
          </a:p>
          <a:p>
            <a:pPr marL="0" indent="0">
              <a:buNone/>
            </a:pPr>
            <a:endParaRPr lang="ru-RU" sz="2400" dirty="0"/>
          </a:p>
          <a:p>
            <a:pPr marL="0" indent="0">
              <a:buNone/>
            </a:pPr>
            <a:endParaRPr lang="ru-RU" sz="2400" dirty="0"/>
          </a:p>
          <a:p>
            <a:pPr marL="0" indent="0">
              <a:buNone/>
            </a:pPr>
            <a:endParaRPr lang="ru-RU" sz="2400" dirty="0"/>
          </a:p>
        </p:txBody>
      </p:sp>
      <p:pic>
        <p:nvPicPr>
          <p:cNvPr id="5" name="Google Shape;305;p19">
            <a:extLst>
              <a:ext uri="{FF2B5EF4-FFF2-40B4-BE49-F238E27FC236}">
                <a16:creationId xmlns:a16="http://schemas.microsoft.com/office/drawing/2014/main" id="{BAEB1C5C-CFB0-2A88-B765-2A64980FAE88}"/>
              </a:ext>
            </a:extLst>
          </p:cNvPr>
          <p:cNvPicPr preferRelativeResize="0"/>
          <p:nvPr/>
        </p:nvPicPr>
        <p:blipFill rotWithShape="1">
          <a:blip r:embed="rId3">
            <a:alphaModFix/>
          </a:blip>
          <a:srcRect/>
          <a:stretch/>
        </p:blipFill>
        <p:spPr>
          <a:xfrm>
            <a:off x="3767372" y="2243899"/>
            <a:ext cx="1068546" cy="271827"/>
          </a:xfrm>
          <a:prstGeom prst="rect">
            <a:avLst/>
          </a:prstGeom>
          <a:noFill/>
          <a:ln>
            <a:noFill/>
          </a:ln>
        </p:spPr>
      </p:pic>
      <p:pic>
        <p:nvPicPr>
          <p:cNvPr id="11" name="Google Shape;317;p20">
            <a:extLst>
              <a:ext uri="{FF2B5EF4-FFF2-40B4-BE49-F238E27FC236}">
                <a16:creationId xmlns:a16="http://schemas.microsoft.com/office/drawing/2014/main" id="{F1CADFEB-69C0-B380-D948-8A4DF8EC409E}"/>
              </a:ext>
            </a:extLst>
          </p:cNvPr>
          <p:cNvPicPr preferRelativeResize="0"/>
          <p:nvPr/>
        </p:nvPicPr>
        <p:blipFill rotWithShape="1">
          <a:blip r:embed="rId4">
            <a:alphaModFix/>
          </a:blip>
          <a:srcRect/>
          <a:stretch/>
        </p:blipFill>
        <p:spPr>
          <a:xfrm>
            <a:off x="2888733" y="2785461"/>
            <a:ext cx="5794301" cy="810183"/>
          </a:xfrm>
          <a:prstGeom prst="rect">
            <a:avLst/>
          </a:prstGeom>
          <a:noFill/>
          <a:ln>
            <a:noFill/>
          </a:ln>
        </p:spPr>
      </p:pic>
    </p:spTree>
    <p:extLst>
      <p:ext uri="{BB962C8B-B14F-4D97-AF65-F5344CB8AC3E}">
        <p14:creationId xmlns:p14="http://schemas.microsoft.com/office/powerpoint/2010/main" val="166404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6F561-7CE0-A368-05E5-5B10DACB8AB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D6973E-BA3D-045B-8149-551F02C73F7F}"/>
              </a:ext>
            </a:extLst>
          </p:cNvPr>
          <p:cNvSpPr>
            <a:spLocks noGrp="1"/>
          </p:cNvSpPr>
          <p:nvPr>
            <p:ph type="title"/>
          </p:nvPr>
        </p:nvSpPr>
        <p:spPr/>
        <p:txBody>
          <a:bodyPr/>
          <a:lstStyle/>
          <a:p>
            <a:r>
              <a:rPr lang="ru" dirty="0"/>
              <a:t>Обучение с учителем (supervised learning)</a:t>
            </a:r>
            <a:endParaRPr lang="ru-RU" dirty="0"/>
          </a:p>
        </p:txBody>
      </p:sp>
      <p:pic>
        <p:nvPicPr>
          <p:cNvPr id="4" name="Picture 2" descr="Picture background">
            <a:extLst>
              <a:ext uri="{FF2B5EF4-FFF2-40B4-BE49-F238E27FC236}">
                <a16:creationId xmlns:a16="http://schemas.microsoft.com/office/drawing/2014/main" id="{D9309AAB-6E04-2B78-736D-8C17980E56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907A7D0A-7E75-7BAB-1B3C-F1E62744E767}"/>
              </a:ext>
            </a:extLst>
          </p:cNvPr>
          <p:cNvSpPr>
            <a:spLocks noGrp="1"/>
          </p:cNvSpPr>
          <p:nvPr>
            <p:ph idx="1"/>
          </p:nvPr>
        </p:nvSpPr>
        <p:spPr>
          <a:xfrm>
            <a:off x="838200" y="1690688"/>
            <a:ext cx="10869706" cy="3768818"/>
          </a:xfrm>
        </p:spPr>
        <p:txBody>
          <a:bodyPr>
            <a:normAutofit/>
          </a:bodyPr>
          <a:lstStyle/>
          <a:p>
            <a:pPr marL="0" indent="0">
              <a:buNone/>
            </a:pPr>
            <a:endParaRPr lang="ru-RU" sz="2400" dirty="0"/>
          </a:p>
          <a:p>
            <a:pPr marL="0" indent="0">
              <a:buNone/>
            </a:pPr>
            <a:endParaRPr lang="ru-RU" sz="2400" dirty="0"/>
          </a:p>
        </p:txBody>
      </p:sp>
      <p:sp>
        <p:nvSpPr>
          <p:cNvPr id="7" name="TextBox 6">
            <a:extLst>
              <a:ext uri="{FF2B5EF4-FFF2-40B4-BE49-F238E27FC236}">
                <a16:creationId xmlns:a16="http://schemas.microsoft.com/office/drawing/2014/main" id="{F441BD79-78C7-734E-70CB-1F4B354AA6D0}"/>
              </a:ext>
            </a:extLst>
          </p:cNvPr>
          <p:cNvSpPr txBox="1"/>
          <p:nvPr/>
        </p:nvSpPr>
        <p:spPr>
          <a:xfrm>
            <a:off x="838200" y="1690687"/>
            <a:ext cx="9444318" cy="1200329"/>
          </a:xfrm>
          <a:prstGeom prst="rect">
            <a:avLst/>
          </a:prstGeom>
          <a:noFill/>
        </p:spPr>
        <p:txBody>
          <a:bodyPr wrap="square">
            <a:spAutoFit/>
          </a:bodyPr>
          <a:lstStyle/>
          <a:p>
            <a:pPr marL="0" indent="0">
              <a:buNone/>
            </a:pPr>
            <a:r>
              <a:rPr lang="ru-RU" sz="2400" dirty="0"/>
              <a:t>Пример: </a:t>
            </a:r>
          </a:p>
          <a:p>
            <a:pPr marL="0" indent="0">
              <a:buNone/>
            </a:pPr>
            <a:r>
              <a:rPr lang="ru-RU" sz="2400" dirty="0"/>
              <a:t>Задача предсказания цены дома из предыдущих примеров.</a:t>
            </a:r>
          </a:p>
          <a:p>
            <a:pPr marL="0" indent="0">
              <a:buNone/>
            </a:pPr>
            <a:r>
              <a:rPr lang="ru-RU" sz="2400" dirty="0"/>
              <a:t>Возможные функции потерь:</a:t>
            </a:r>
          </a:p>
        </p:txBody>
      </p:sp>
      <p:pic>
        <p:nvPicPr>
          <p:cNvPr id="8" name="Google Shape;306;p19">
            <a:extLst>
              <a:ext uri="{FF2B5EF4-FFF2-40B4-BE49-F238E27FC236}">
                <a16:creationId xmlns:a16="http://schemas.microsoft.com/office/drawing/2014/main" id="{33C420FB-01C0-F69E-3603-3B14EB5E4888}"/>
              </a:ext>
            </a:extLst>
          </p:cNvPr>
          <p:cNvPicPr preferRelativeResize="0"/>
          <p:nvPr/>
        </p:nvPicPr>
        <p:blipFill rotWithShape="1">
          <a:blip r:embed="rId3">
            <a:alphaModFix/>
          </a:blip>
          <a:srcRect/>
          <a:stretch/>
        </p:blipFill>
        <p:spPr>
          <a:xfrm>
            <a:off x="838201" y="3123416"/>
            <a:ext cx="3966075" cy="372350"/>
          </a:xfrm>
          <a:prstGeom prst="rect">
            <a:avLst/>
          </a:prstGeom>
          <a:noFill/>
          <a:ln>
            <a:noFill/>
          </a:ln>
        </p:spPr>
      </p:pic>
      <p:pic>
        <p:nvPicPr>
          <p:cNvPr id="9" name="Google Shape;307;p19">
            <a:extLst>
              <a:ext uri="{FF2B5EF4-FFF2-40B4-BE49-F238E27FC236}">
                <a16:creationId xmlns:a16="http://schemas.microsoft.com/office/drawing/2014/main" id="{EF20AD97-CB8C-927A-1832-0CBC7FC05209}"/>
              </a:ext>
            </a:extLst>
          </p:cNvPr>
          <p:cNvPicPr preferRelativeResize="0"/>
          <p:nvPr/>
        </p:nvPicPr>
        <p:blipFill rotWithShape="1">
          <a:blip r:embed="rId4">
            <a:alphaModFix/>
          </a:blip>
          <a:srcRect/>
          <a:stretch/>
        </p:blipFill>
        <p:spPr>
          <a:xfrm>
            <a:off x="838200" y="3958651"/>
            <a:ext cx="3873275" cy="334800"/>
          </a:xfrm>
          <a:prstGeom prst="rect">
            <a:avLst/>
          </a:prstGeom>
          <a:noFill/>
          <a:ln>
            <a:noFill/>
          </a:ln>
        </p:spPr>
      </p:pic>
      <p:pic>
        <p:nvPicPr>
          <p:cNvPr id="10" name="Google Shape;308;p19">
            <a:extLst>
              <a:ext uri="{FF2B5EF4-FFF2-40B4-BE49-F238E27FC236}">
                <a16:creationId xmlns:a16="http://schemas.microsoft.com/office/drawing/2014/main" id="{A0FA5435-E813-C83E-BF9C-B19785F2EA1E}"/>
              </a:ext>
            </a:extLst>
          </p:cNvPr>
          <p:cNvPicPr preferRelativeResize="0"/>
          <p:nvPr/>
        </p:nvPicPr>
        <p:blipFill rotWithShape="1">
          <a:blip r:embed="rId5">
            <a:alphaModFix/>
          </a:blip>
          <a:srcRect/>
          <a:stretch/>
        </p:blipFill>
        <p:spPr>
          <a:xfrm>
            <a:off x="838200" y="4716582"/>
            <a:ext cx="4606329" cy="372350"/>
          </a:xfrm>
          <a:prstGeom prst="rect">
            <a:avLst/>
          </a:prstGeom>
          <a:noFill/>
          <a:ln>
            <a:noFill/>
          </a:ln>
        </p:spPr>
      </p:pic>
      <p:sp>
        <p:nvSpPr>
          <p:cNvPr id="11" name="Google Shape;309;p19">
            <a:extLst>
              <a:ext uri="{FF2B5EF4-FFF2-40B4-BE49-F238E27FC236}">
                <a16:creationId xmlns:a16="http://schemas.microsoft.com/office/drawing/2014/main" id="{E7BDF7D7-3C24-21A8-1BA8-3D74A34236F9}"/>
              </a:ext>
            </a:extLst>
          </p:cNvPr>
          <p:cNvSpPr txBox="1"/>
          <p:nvPr/>
        </p:nvSpPr>
        <p:spPr>
          <a:xfrm>
            <a:off x="4862582" y="3016251"/>
            <a:ext cx="5504833" cy="60853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ru" sz="2400" dirty="0">
                <a:solidFill>
                  <a:srgbClr val="000000"/>
                </a:solidFill>
                <a:ea typeface="Old Standard TT"/>
                <a:cs typeface="Old Standard TT"/>
                <a:sym typeface="Old Standard TT"/>
              </a:rPr>
              <a:t> –</a:t>
            </a:r>
            <a:r>
              <a:rPr lang="ru" sz="2400" b="0" i="0" u="none" strike="noStrike" cap="none" dirty="0">
                <a:solidFill>
                  <a:srgbClr val="000000"/>
                </a:solidFill>
                <a:ea typeface="Old Standard TT"/>
                <a:cs typeface="Old Standard TT"/>
                <a:sym typeface="Old Standard TT"/>
              </a:rPr>
              <a:t> квадратичная функция потерь</a:t>
            </a:r>
            <a:endParaRPr sz="2400" b="0" i="0" u="none" strike="noStrike" cap="none" dirty="0">
              <a:solidFill>
                <a:srgbClr val="000000"/>
              </a:solidFill>
              <a:ea typeface="Old Standard TT"/>
              <a:cs typeface="Old Standard TT"/>
              <a:sym typeface="Old Standard TT"/>
            </a:endParaRPr>
          </a:p>
        </p:txBody>
      </p:sp>
      <p:sp>
        <p:nvSpPr>
          <p:cNvPr id="12" name="Google Shape;310;p19">
            <a:extLst>
              <a:ext uri="{FF2B5EF4-FFF2-40B4-BE49-F238E27FC236}">
                <a16:creationId xmlns:a16="http://schemas.microsoft.com/office/drawing/2014/main" id="{84D22152-5132-687A-166D-A2445C2A3A44}"/>
              </a:ext>
            </a:extLst>
          </p:cNvPr>
          <p:cNvSpPr txBox="1"/>
          <p:nvPr/>
        </p:nvSpPr>
        <p:spPr>
          <a:xfrm>
            <a:off x="4862580" y="3831982"/>
            <a:ext cx="5235893" cy="677407"/>
          </a:xfrm>
          <a:prstGeom prst="rect">
            <a:avLst/>
          </a:prstGeom>
          <a:noFill/>
          <a:ln>
            <a:noFill/>
          </a:ln>
        </p:spPr>
        <p:txBody>
          <a:bodyPr spcFirstLastPara="1" wrap="square" lIns="91425" tIns="91425" rIns="91425" bIns="91425" anchor="t" anchorCtr="0">
            <a:noAutofit/>
          </a:bodyPr>
          <a:lstStyle/>
          <a:p>
            <a:pPr lvl="0">
              <a:buClr>
                <a:srgbClr val="000000"/>
              </a:buClr>
              <a:buSzPts val="1800"/>
            </a:pPr>
            <a:r>
              <a:rPr lang="ru" sz="2400" dirty="0">
                <a:solidFill>
                  <a:srgbClr val="000000"/>
                </a:solidFill>
                <a:ea typeface="Old Standard TT"/>
                <a:cs typeface="Old Standard TT"/>
                <a:sym typeface="Old Standard TT"/>
              </a:rPr>
              <a:t> –</a:t>
            </a:r>
            <a:r>
              <a:rPr lang="ru" sz="2400" b="0" i="0" u="none" strike="noStrike" cap="none" dirty="0">
                <a:solidFill>
                  <a:srgbClr val="000000"/>
                </a:solidFill>
                <a:ea typeface="Old Standard TT"/>
                <a:cs typeface="Old Standard TT"/>
                <a:sym typeface="Old Standard TT"/>
              </a:rPr>
              <a:t> абсолютная функция потерь</a:t>
            </a:r>
            <a:endParaRPr sz="2400" b="0" i="0" u="none" strike="noStrike" cap="none" dirty="0">
              <a:solidFill>
                <a:srgbClr val="000000"/>
              </a:solidFill>
              <a:ea typeface="Old Standard TT"/>
              <a:cs typeface="Old Standard TT"/>
              <a:sym typeface="Old Standard TT"/>
            </a:endParaRPr>
          </a:p>
        </p:txBody>
      </p:sp>
    </p:spTree>
    <p:extLst>
      <p:ext uri="{BB962C8B-B14F-4D97-AF65-F5344CB8AC3E}">
        <p14:creationId xmlns:p14="http://schemas.microsoft.com/office/powerpoint/2010/main" val="1023944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5AF3B-EA20-166E-084B-0A8D5C837B1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B67D7C-8F85-907E-28EF-14D2EB5F244B}"/>
              </a:ext>
            </a:extLst>
          </p:cNvPr>
          <p:cNvSpPr>
            <a:spLocks noGrp="1"/>
          </p:cNvSpPr>
          <p:nvPr>
            <p:ph type="title"/>
          </p:nvPr>
        </p:nvSpPr>
        <p:spPr/>
        <p:txBody>
          <a:bodyPr/>
          <a:lstStyle/>
          <a:p>
            <a:r>
              <a:rPr lang="ru" dirty="0"/>
              <a:t>Пара слов о линейной регрессии</a:t>
            </a:r>
            <a:endParaRPr lang="ru-RU" dirty="0"/>
          </a:p>
        </p:txBody>
      </p:sp>
      <p:pic>
        <p:nvPicPr>
          <p:cNvPr id="4" name="Picture 2" descr="Picture background">
            <a:extLst>
              <a:ext uri="{FF2B5EF4-FFF2-40B4-BE49-F238E27FC236}">
                <a16:creationId xmlns:a16="http://schemas.microsoft.com/office/drawing/2014/main" id="{1C740274-E5DB-D397-2064-2EDB9C6820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724DEE9C-18F8-C85C-5730-6925DA9A46DB}"/>
              </a:ext>
            </a:extLst>
          </p:cNvPr>
          <p:cNvSpPr>
            <a:spLocks noGrp="1"/>
          </p:cNvSpPr>
          <p:nvPr>
            <p:ph idx="1"/>
          </p:nvPr>
        </p:nvSpPr>
        <p:spPr>
          <a:xfrm>
            <a:off x="838200" y="1690688"/>
            <a:ext cx="10869706" cy="3768818"/>
          </a:xfrm>
        </p:spPr>
        <p:txBody>
          <a:bodyPr>
            <a:normAutofit/>
          </a:bodyPr>
          <a:lstStyle/>
          <a:p>
            <a:pPr marL="0" indent="0">
              <a:buNone/>
            </a:pPr>
            <a:r>
              <a:rPr lang="ru-RU" sz="2400" dirty="0"/>
              <a:t>Вспомним как выглядит линейная регрессия:</a:t>
            </a:r>
          </a:p>
          <a:p>
            <a:pPr marL="0" indent="0">
              <a:buNone/>
            </a:pPr>
            <a:endParaRPr lang="ru-RU" sz="2400" dirty="0"/>
          </a:p>
          <a:p>
            <a:pPr marL="0" indent="0">
              <a:buNone/>
            </a:pPr>
            <a:endParaRPr lang="ru-RU" sz="2400" dirty="0"/>
          </a:p>
          <a:p>
            <a:pPr marL="0" indent="0">
              <a:buNone/>
            </a:pPr>
            <a:r>
              <a:rPr lang="ru-RU" sz="2400" b="1" dirty="0"/>
              <a:t>Обучение линейной регрессии: </a:t>
            </a:r>
          </a:p>
          <a:p>
            <a:pPr marL="0" indent="0">
              <a:buNone/>
            </a:pPr>
            <a:r>
              <a:rPr lang="ru-RU" sz="2400" dirty="0"/>
              <a:t>Классически в качестве </a:t>
            </a:r>
            <a:r>
              <a:rPr lang="ru-RU" sz="2400" dirty="0" err="1"/>
              <a:t>лосса</a:t>
            </a:r>
            <a:r>
              <a:rPr lang="ru-RU" sz="2400" dirty="0"/>
              <a:t> берут </a:t>
            </a:r>
            <a:r>
              <a:rPr lang="ru-RU" sz="2400" dirty="0" err="1"/>
              <a:t>Mean</a:t>
            </a:r>
            <a:r>
              <a:rPr lang="ru-RU" sz="2400" dirty="0"/>
              <a:t> </a:t>
            </a:r>
            <a:r>
              <a:rPr lang="ru-RU" sz="2400" dirty="0" err="1"/>
              <a:t>Squared</a:t>
            </a:r>
            <a:r>
              <a:rPr lang="ru-RU" sz="2400" dirty="0"/>
              <a:t> </a:t>
            </a:r>
            <a:r>
              <a:rPr lang="ru-RU" sz="2400" dirty="0" err="1"/>
              <a:t>Error</a:t>
            </a:r>
            <a:r>
              <a:rPr lang="ru-RU" sz="2400" dirty="0"/>
              <a:t> (среднее квадратов ошибок)</a:t>
            </a:r>
          </a:p>
          <a:p>
            <a:pPr marL="0" indent="0">
              <a:buNone/>
            </a:pPr>
            <a:endParaRPr lang="ru-RU" sz="2400" dirty="0"/>
          </a:p>
        </p:txBody>
      </p:sp>
      <p:pic>
        <p:nvPicPr>
          <p:cNvPr id="7" name="Google Shape;330;g9b3f43a947_2_31">
            <a:extLst>
              <a:ext uri="{FF2B5EF4-FFF2-40B4-BE49-F238E27FC236}">
                <a16:creationId xmlns:a16="http://schemas.microsoft.com/office/drawing/2014/main" id="{0337C7CA-929B-59F7-894F-329F12FED14A}"/>
              </a:ext>
            </a:extLst>
          </p:cNvPr>
          <p:cNvPicPr preferRelativeResize="0"/>
          <p:nvPr/>
        </p:nvPicPr>
        <p:blipFill rotWithShape="1">
          <a:blip r:embed="rId3">
            <a:alphaModFix/>
          </a:blip>
          <a:srcRect/>
          <a:stretch/>
        </p:blipFill>
        <p:spPr>
          <a:xfrm>
            <a:off x="954619" y="2256558"/>
            <a:ext cx="9562139" cy="468713"/>
          </a:xfrm>
          <a:prstGeom prst="rect">
            <a:avLst/>
          </a:prstGeom>
          <a:noFill/>
          <a:ln>
            <a:noFill/>
          </a:ln>
        </p:spPr>
      </p:pic>
      <p:pic>
        <p:nvPicPr>
          <p:cNvPr id="8" name="Google Shape;331;g9b3f43a947_2_31">
            <a:extLst>
              <a:ext uri="{FF2B5EF4-FFF2-40B4-BE49-F238E27FC236}">
                <a16:creationId xmlns:a16="http://schemas.microsoft.com/office/drawing/2014/main" id="{6A10C5BF-60F4-3A47-EC38-A679BB1D0A66}"/>
              </a:ext>
            </a:extLst>
          </p:cNvPr>
          <p:cNvPicPr preferRelativeResize="0"/>
          <p:nvPr/>
        </p:nvPicPr>
        <p:blipFill rotWithShape="1">
          <a:blip r:embed="rId4">
            <a:alphaModFix/>
          </a:blip>
          <a:srcRect/>
          <a:stretch/>
        </p:blipFill>
        <p:spPr>
          <a:xfrm>
            <a:off x="1301167" y="4550194"/>
            <a:ext cx="7872053" cy="909311"/>
          </a:xfrm>
          <a:prstGeom prst="rect">
            <a:avLst/>
          </a:prstGeom>
          <a:noFill/>
          <a:ln>
            <a:noFill/>
          </a:ln>
        </p:spPr>
      </p:pic>
    </p:spTree>
    <p:extLst>
      <p:ext uri="{BB962C8B-B14F-4D97-AF65-F5344CB8AC3E}">
        <p14:creationId xmlns:p14="http://schemas.microsoft.com/office/powerpoint/2010/main" val="2823512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40A88-8266-819D-B7D8-6D225735856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5ABFBD-EF4D-273A-DE4B-A5E8AE88929B}"/>
              </a:ext>
            </a:extLst>
          </p:cNvPr>
          <p:cNvSpPr>
            <a:spLocks noGrp="1"/>
          </p:cNvSpPr>
          <p:nvPr>
            <p:ph type="title"/>
          </p:nvPr>
        </p:nvSpPr>
        <p:spPr/>
        <p:txBody>
          <a:bodyPr/>
          <a:lstStyle/>
          <a:p>
            <a:r>
              <a:rPr lang="ru" dirty="0"/>
              <a:t>Пара слов о линейной регрессии</a:t>
            </a:r>
            <a:endParaRPr lang="ru-RU" dirty="0"/>
          </a:p>
        </p:txBody>
      </p:sp>
      <p:pic>
        <p:nvPicPr>
          <p:cNvPr id="4" name="Picture 2" descr="Picture background">
            <a:extLst>
              <a:ext uri="{FF2B5EF4-FFF2-40B4-BE49-F238E27FC236}">
                <a16:creationId xmlns:a16="http://schemas.microsoft.com/office/drawing/2014/main" id="{03C1A4C8-674A-49A4-8C70-A96F9F3AD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3287868E-B06E-97EB-A6A8-C91C0513593F}"/>
              </a:ext>
            </a:extLst>
          </p:cNvPr>
          <p:cNvSpPr>
            <a:spLocks noGrp="1"/>
          </p:cNvSpPr>
          <p:nvPr>
            <p:ph idx="1"/>
          </p:nvPr>
        </p:nvSpPr>
        <p:spPr>
          <a:xfrm>
            <a:off x="838200" y="1690688"/>
            <a:ext cx="10869706" cy="3768818"/>
          </a:xfrm>
        </p:spPr>
        <p:txBody>
          <a:bodyPr>
            <a:normAutofit/>
          </a:bodyPr>
          <a:lstStyle/>
          <a:p>
            <a:pPr marL="0" indent="0">
              <a:buNone/>
            </a:pPr>
            <a:r>
              <a:rPr lang="ru-RU" sz="2400" dirty="0"/>
              <a:t>Вспомним как выглядит линейная регрессия:</a:t>
            </a:r>
          </a:p>
          <a:p>
            <a:pPr marL="0" indent="0">
              <a:buNone/>
            </a:pPr>
            <a:endParaRPr lang="ru-RU" sz="2400" dirty="0"/>
          </a:p>
          <a:p>
            <a:pPr marL="0" indent="0">
              <a:buNone/>
            </a:pPr>
            <a:endParaRPr lang="ru-RU" sz="2400" dirty="0"/>
          </a:p>
          <a:p>
            <a:pPr marL="0" indent="0">
              <a:buNone/>
            </a:pPr>
            <a:r>
              <a:rPr lang="ru-RU" sz="2400" b="1" dirty="0" err="1"/>
              <a:t>Polynomial</a:t>
            </a:r>
            <a:r>
              <a:rPr lang="ru-RU" sz="2400" b="1" dirty="0"/>
              <a:t> </a:t>
            </a:r>
            <a:r>
              <a:rPr lang="ru-RU" sz="2400" b="1" dirty="0" err="1"/>
              <a:t>Regression</a:t>
            </a:r>
            <a:r>
              <a:rPr lang="ru-RU" sz="2400" b="1" dirty="0"/>
              <a:t>: </a:t>
            </a:r>
          </a:p>
          <a:p>
            <a:pPr marL="0" indent="0">
              <a:buNone/>
            </a:pPr>
            <a:r>
              <a:rPr lang="ru-RU" sz="2400" dirty="0"/>
              <a:t>Пусть у нас изначально есть только один признак x. Создадим новые:</a:t>
            </a:r>
          </a:p>
          <a:p>
            <a:pPr marL="0" indent="0">
              <a:buNone/>
            </a:pPr>
            <a:endParaRPr lang="ru-RU" sz="2400" dirty="0"/>
          </a:p>
          <a:p>
            <a:pPr marL="0" indent="0">
              <a:buNone/>
            </a:pPr>
            <a:r>
              <a:rPr lang="ru-RU" sz="2400" dirty="0"/>
              <a:t>Линейная регрессия от таких признаков называется полиномиальной</a:t>
            </a:r>
          </a:p>
        </p:txBody>
      </p:sp>
      <p:pic>
        <p:nvPicPr>
          <p:cNvPr id="7" name="Google Shape;330;g9b3f43a947_2_31">
            <a:extLst>
              <a:ext uri="{FF2B5EF4-FFF2-40B4-BE49-F238E27FC236}">
                <a16:creationId xmlns:a16="http://schemas.microsoft.com/office/drawing/2014/main" id="{9F1DA159-6D37-C9BF-39BF-F5C9EE1DC03E}"/>
              </a:ext>
            </a:extLst>
          </p:cNvPr>
          <p:cNvPicPr preferRelativeResize="0"/>
          <p:nvPr/>
        </p:nvPicPr>
        <p:blipFill rotWithShape="1">
          <a:blip r:embed="rId3">
            <a:alphaModFix/>
          </a:blip>
          <a:srcRect/>
          <a:stretch/>
        </p:blipFill>
        <p:spPr>
          <a:xfrm>
            <a:off x="954619" y="2256558"/>
            <a:ext cx="9562139" cy="468713"/>
          </a:xfrm>
          <a:prstGeom prst="rect">
            <a:avLst/>
          </a:prstGeom>
          <a:noFill/>
          <a:ln>
            <a:noFill/>
          </a:ln>
        </p:spPr>
      </p:pic>
      <p:pic>
        <p:nvPicPr>
          <p:cNvPr id="5" name="Google Shape;338;p26">
            <a:extLst>
              <a:ext uri="{FF2B5EF4-FFF2-40B4-BE49-F238E27FC236}">
                <a16:creationId xmlns:a16="http://schemas.microsoft.com/office/drawing/2014/main" id="{20763FDF-359B-C674-37F1-73EBB6E7D4D9}"/>
              </a:ext>
            </a:extLst>
          </p:cNvPr>
          <p:cNvPicPr preferRelativeResize="0"/>
          <p:nvPr/>
        </p:nvPicPr>
        <p:blipFill rotWithShape="1">
          <a:blip r:embed="rId4">
            <a:alphaModFix/>
          </a:blip>
          <a:srcRect/>
          <a:stretch/>
        </p:blipFill>
        <p:spPr>
          <a:xfrm>
            <a:off x="2702858" y="3816477"/>
            <a:ext cx="5279654" cy="468713"/>
          </a:xfrm>
          <a:prstGeom prst="rect">
            <a:avLst/>
          </a:prstGeom>
          <a:noFill/>
          <a:ln>
            <a:noFill/>
          </a:ln>
        </p:spPr>
      </p:pic>
      <p:pic>
        <p:nvPicPr>
          <p:cNvPr id="6" name="Google Shape;339;p26">
            <a:extLst>
              <a:ext uri="{FF2B5EF4-FFF2-40B4-BE49-F238E27FC236}">
                <a16:creationId xmlns:a16="http://schemas.microsoft.com/office/drawing/2014/main" id="{3C3FC2F5-4463-A29A-9FAF-CCFF7099422E}"/>
              </a:ext>
            </a:extLst>
          </p:cNvPr>
          <p:cNvPicPr preferRelativeResize="0"/>
          <p:nvPr/>
        </p:nvPicPr>
        <p:blipFill rotWithShape="1">
          <a:blip r:embed="rId5">
            <a:alphaModFix/>
          </a:blip>
          <a:srcRect/>
          <a:stretch/>
        </p:blipFill>
        <p:spPr>
          <a:xfrm>
            <a:off x="2344843" y="5002648"/>
            <a:ext cx="6781689" cy="505691"/>
          </a:xfrm>
          <a:prstGeom prst="rect">
            <a:avLst/>
          </a:prstGeom>
          <a:noFill/>
          <a:ln>
            <a:noFill/>
          </a:ln>
        </p:spPr>
      </p:pic>
    </p:spTree>
    <p:extLst>
      <p:ext uri="{BB962C8B-B14F-4D97-AF65-F5344CB8AC3E}">
        <p14:creationId xmlns:p14="http://schemas.microsoft.com/office/powerpoint/2010/main" val="3274657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E2285-1D61-CE88-B782-B12CC11136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F6B430-882B-E4A9-F783-53F3C871EDF7}"/>
              </a:ext>
            </a:extLst>
          </p:cNvPr>
          <p:cNvSpPr>
            <a:spLocks noGrp="1"/>
          </p:cNvSpPr>
          <p:nvPr>
            <p:ph type="title"/>
          </p:nvPr>
        </p:nvSpPr>
        <p:spPr/>
        <p:txBody>
          <a:bodyPr/>
          <a:lstStyle/>
          <a:p>
            <a:r>
              <a:rPr lang="ru" dirty="0"/>
              <a:t>Пара слов о линейной регрессии</a:t>
            </a:r>
            <a:endParaRPr lang="ru-RU" dirty="0"/>
          </a:p>
        </p:txBody>
      </p:sp>
      <p:pic>
        <p:nvPicPr>
          <p:cNvPr id="4" name="Picture 2" descr="Picture background">
            <a:extLst>
              <a:ext uri="{FF2B5EF4-FFF2-40B4-BE49-F238E27FC236}">
                <a16:creationId xmlns:a16="http://schemas.microsoft.com/office/drawing/2014/main" id="{5CFD286F-D97D-EA6F-81CC-55148809C2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47CBAB1E-D7A7-198B-96E6-4AB175372DE0}"/>
              </a:ext>
            </a:extLst>
          </p:cNvPr>
          <p:cNvSpPr>
            <a:spLocks noGrp="1"/>
          </p:cNvSpPr>
          <p:nvPr>
            <p:ph idx="1"/>
          </p:nvPr>
        </p:nvSpPr>
        <p:spPr>
          <a:xfrm>
            <a:off x="838200" y="1690688"/>
            <a:ext cx="10869706" cy="3768818"/>
          </a:xfrm>
        </p:spPr>
        <p:txBody>
          <a:bodyPr>
            <a:normAutofit/>
          </a:bodyPr>
          <a:lstStyle/>
          <a:p>
            <a:pPr marL="0" indent="0">
              <a:buNone/>
            </a:pPr>
            <a:endParaRPr lang="ru-RU" dirty="0"/>
          </a:p>
        </p:txBody>
      </p:sp>
      <p:pic>
        <p:nvPicPr>
          <p:cNvPr id="5" name="Google Shape;346;p27">
            <a:extLst>
              <a:ext uri="{FF2B5EF4-FFF2-40B4-BE49-F238E27FC236}">
                <a16:creationId xmlns:a16="http://schemas.microsoft.com/office/drawing/2014/main" id="{53220A42-1A95-FAE2-4CA2-94AEA39A26CA}"/>
              </a:ext>
            </a:extLst>
          </p:cNvPr>
          <p:cNvPicPr preferRelativeResize="0"/>
          <p:nvPr/>
        </p:nvPicPr>
        <p:blipFill rotWithShape="1">
          <a:blip r:embed="rId3">
            <a:alphaModFix/>
          </a:blip>
          <a:srcRect/>
          <a:stretch/>
        </p:blipFill>
        <p:spPr>
          <a:xfrm>
            <a:off x="2237678" y="1601514"/>
            <a:ext cx="7578674" cy="4422767"/>
          </a:xfrm>
          <a:prstGeom prst="rect">
            <a:avLst/>
          </a:prstGeom>
          <a:noFill/>
          <a:ln>
            <a:noFill/>
          </a:ln>
        </p:spPr>
      </p:pic>
    </p:spTree>
    <p:extLst>
      <p:ext uri="{BB962C8B-B14F-4D97-AF65-F5344CB8AC3E}">
        <p14:creationId xmlns:p14="http://schemas.microsoft.com/office/powerpoint/2010/main" val="842617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9DF01-7D4B-F02E-157E-100EEA94506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5461F1-F0A9-3D4D-2EE5-D57552366642}"/>
              </a:ext>
            </a:extLst>
          </p:cNvPr>
          <p:cNvSpPr>
            <a:spLocks noGrp="1"/>
          </p:cNvSpPr>
          <p:nvPr>
            <p:ph type="title"/>
          </p:nvPr>
        </p:nvSpPr>
        <p:spPr/>
        <p:txBody>
          <a:bodyPr/>
          <a:lstStyle/>
          <a:p>
            <a:r>
              <a:rPr lang="ru" dirty="0"/>
              <a:t>Пара слов о </a:t>
            </a:r>
            <a:r>
              <a:rPr lang="en-US"/>
              <a:t>KNN</a:t>
            </a:r>
            <a:endParaRPr lang="ru-RU" dirty="0"/>
          </a:p>
        </p:txBody>
      </p:sp>
      <p:pic>
        <p:nvPicPr>
          <p:cNvPr id="4" name="Picture 2" descr="Picture background">
            <a:extLst>
              <a:ext uri="{FF2B5EF4-FFF2-40B4-BE49-F238E27FC236}">
                <a16:creationId xmlns:a16="http://schemas.microsoft.com/office/drawing/2014/main" id="{2BE7E5D5-7F1B-40F9-254F-972D7EB090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8D0311DF-69C2-ABD4-A882-FD7EBB41E9CC}"/>
              </a:ext>
            </a:extLst>
          </p:cNvPr>
          <p:cNvSpPr>
            <a:spLocks noGrp="1"/>
          </p:cNvSpPr>
          <p:nvPr>
            <p:ph idx="1"/>
          </p:nvPr>
        </p:nvSpPr>
        <p:spPr>
          <a:xfrm>
            <a:off x="838201" y="1690688"/>
            <a:ext cx="3859306" cy="3768818"/>
          </a:xfrm>
        </p:spPr>
        <p:txBody>
          <a:bodyPr>
            <a:normAutofit/>
          </a:bodyPr>
          <a:lstStyle/>
          <a:p>
            <a:pPr marL="0" indent="0">
              <a:buNone/>
            </a:pPr>
            <a:r>
              <a:rPr lang="ru-RU" sz="2400" dirty="0"/>
              <a:t>Если в алгоритме KNN мы возьмем k = 1, то получим идеальные предсказания на всем обучающем датасете и эмпирический риск (средний </a:t>
            </a:r>
            <a:r>
              <a:rPr lang="ru-RU" sz="2400" dirty="0" err="1"/>
              <a:t>лосс</a:t>
            </a:r>
            <a:r>
              <a:rPr lang="ru-RU" sz="2400" dirty="0"/>
              <a:t>) будет равен 0.</a:t>
            </a:r>
          </a:p>
          <a:p>
            <a:pPr marL="0" indent="0">
              <a:buNone/>
            </a:pPr>
            <a:endParaRPr lang="ru-RU" sz="2400" dirty="0"/>
          </a:p>
          <a:p>
            <a:pPr marL="0" indent="0">
              <a:buNone/>
            </a:pPr>
            <a:r>
              <a:rPr lang="ru-RU" sz="2400" dirty="0"/>
              <a:t>Но такие предсказания могут быть очень плохими.</a:t>
            </a:r>
          </a:p>
          <a:p>
            <a:pPr marL="0" indent="0">
              <a:buNone/>
            </a:pPr>
            <a:endParaRPr lang="ru-RU" sz="2400" dirty="0"/>
          </a:p>
        </p:txBody>
      </p:sp>
      <p:pic>
        <p:nvPicPr>
          <p:cNvPr id="7" name="Google Shape;352;p28">
            <a:extLst>
              <a:ext uri="{FF2B5EF4-FFF2-40B4-BE49-F238E27FC236}">
                <a16:creationId xmlns:a16="http://schemas.microsoft.com/office/drawing/2014/main" id="{E1702E03-9B53-242D-05E1-E8FB337803AA}"/>
              </a:ext>
            </a:extLst>
          </p:cNvPr>
          <p:cNvPicPr preferRelativeResize="0"/>
          <p:nvPr/>
        </p:nvPicPr>
        <p:blipFill rotWithShape="1">
          <a:blip r:embed="rId3">
            <a:alphaModFix/>
          </a:blip>
          <a:srcRect b="49627"/>
          <a:stretch/>
        </p:blipFill>
        <p:spPr>
          <a:xfrm>
            <a:off x="5298141" y="1794410"/>
            <a:ext cx="6368429" cy="3207896"/>
          </a:xfrm>
          <a:prstGeom prst="rect">
            <a:avLst/>
          </a:prstGeom>
          <a:noFill/>
          <a:ln>
            <a:noFill/>
          </a:ln>
        </p:spPr>
      </p:pic>
    </p:spTree>
    <p:extLst>
      <p:ext uri="{BB962C8B-B14F-4D97-AF65-F5344CB8AC3E}">
        <p14:creationId xmlns:p14="http://schemas.microsoft.com/office/powerpoint/2010/main" val="2579043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D039-9E74-BA1E-E73F-261D4207EE6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6D7CDE-8897-04F4-6FBD-9ABD7BF53EF0}"/>
              </a:ext>
            </a:extLst>
          </p:cNvPr>
          <p:cNvSpPr>
            <a:spLocks noGrp="1"/>
          </p:cNvSpPr>
          <p:nvPr>
            <p:ph type="title"/>
          </p:nvPr>
        </p:nvSpPr>
        <p:spPr/>
        <p:txBody>
          <a:bodyPr/>
          <a:lstStyle/>
          <a:p>
            <a:r>
              <a:rPr lang="ru" dirty="0"/>
              <a:t>Разделение на Train/Validation/Test</a:t>
            </a:r>
            <a:endParaRPr lang="ru-RU" dirty="0"/>
          </a:p>
        </p:txBody>
      </p:sp>
      <p:pic>
        <p:nvPicPr>
          <p:cNvPr id="4" name="Picture 2" descr="Picture background">
            <a:extLst>
              <a:ext uri="{FF2B5EF4-FFF2-40B4-BE49-F238E27FC236}">
                <a16:creationId xmlns:a16="http://schemas.microsoft.com/office/drawing/2014/main" id="{4953E54C-9C27-A1E2-0359-2BD1933081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E4173172-5959-3493-19C3-E9666E8131EC}"/>
              </a:ext>
            </a:extLst>
          </p:cNvPr>
          <p:cNvSpPr>
            <a:spLocks noGrp="1"/>
          </p:cNvSpPr>
          <p:nvPr>
            <p:ph idx="1"/>
          </p:nvPr>
        </p:nvSpPr>
        <p:spPr>
          <a:xfrm>
            <a:off x="838200" y="1690688"/>
            <a:ext cx="9901518" cy="3768818"/>
          </a:xfrm>
        </p:spPr>
        <p:txBody>
          <a:bodyPr>
            <a:normAutofit/>
          </a:bodyPr>
          <a:lstStyle/>
          <a:p>
            <a:r>
              <a:rPr lang="ru-RU" sz="2400" dirty="0" err="1"/>
              <a:t>Train</a:t>
            </a:r>
            <a:r>
              <a:rPr lang="ru-RU" sz="2400" dirty="0"/>
              <a:t> - данные для обучения.</a:t>
            </a:r>
          </a:p>
          <a:p>
            <a:r>
              <a:rPr lang="ru-RU" sz="2400" dirty="0" err="1"/>
              <a:t>Validation</a:t>
            </a:r>
            <a:r>
              <a:rPr lang="ru-RU" sz="2400" dirty="0"/>
              <a:t> - данные для итеративной оценки качества.</a:t>
            </a:r>
          </a:p>
          <a:p>
            <a:r>
              <a:rPr lang="ru-RU" sz="2400" dirty="0"/>
              <a:t>Test - данные для финальной оценки качества.</a:t>
            </a:r>
          </a:p>
          <a:p>
            <a:endParaRPr lang="ru-RU" sz="2400" dirty="0"/>
          </a:p>
          <a:p>
            <a:pPr marL="0" indent="0">
              <a:buNone/>
            </a:pPr>
            <a:r>
              <a:rPr lang="ru-RU" sz="2400" dirty="0"/>
              <a:t>Часто можно опустить </a:t>
            </a:r>
            <a:r>
              <a:rPr lang="ru-RU" sz="2400" dirty="0" err="1"/>
              <a:t>test</a:t>
            </a:r>
            <a:r>
              <a:rPr lang="ru-RU" sz="2400" dirty="0"/>
              <a:t> часть. В этом случае название </a:t>
            </a:r>
            <a:r>
              <a:rPr lang="ru-RU" sz="2400" dirty="0" err="1"/>
              <a:t>validation</a:t>
            </a:r>
            <a:r>
              <a:rPr lang="ru-RU" sz="2400" dirty="0"/>
              <a:t> </a:t>
            </a:r>
            <a:r>
              <a:rPr lang="ru-RU" sz="2400" dirty="0" err="1"/>
              <a:t>dataset</a:t>
            </a:r>
            <a:r>
              <a:rPr lang="ru-RU" sz="2400" dirty="0"/>
              <a:t> и </a:t>
            </a:r>
            <a:r>
              <a:rPr lang="ru-RU" sz="2400" dirty="0" err="1"/>
              <a:t>test</a:t>
            </a:r>
            <a:r>
              <a:rPr lang="ru-RU" sz="2400" dirty="0"/>
              <a:t> </a:t>
            </a:r>
            <a:r>
              <a:rPr lang="ru-RU" sz="2400" dirty="0" err="1"/>
              <a:t>dataset</a:t>
            </a:r>
            <a:r>
              <a:rPr lang="ru-RU" sz="2400" dirty="0"/>
              <a:t> значат одно и то же. ё</a:t>
            </a:r>
          </a:p>
        </p:txBody>
      </p:sp>
      <p:pic>
        <p:nvPicPr>
          <p:cNvPr id="5" name="Google Shape;364;p30">
            <a:extLst>
              <a:ext uri="{FF2B5EF4-FFF2-40B4-BE49-F238E27FC236}">
                <a16:creationId xmlns:a16="http://schemas.microsoft.com/office/drawing/2014/main" id="{8F2F054F-B7D3-75B5-4F3A-1451F319930F}"/>
              </a:ext>
            </a:extLst>
          </p:cNvPr>
          <p:cNvPicPr preferRelativeResize="0"/>
          <p:nvPr/>
        </p:nvPicPr>
        <p:blipFill rotWithShape="1">
          <a:blip r:embed="rId3">
            <a:alphaModFix/>
          </a:blip>
          <a:srcRect t="61285" b="2727"/>
          <a:stretch>
            <a:fillRect/>
          </a:stretch>
        </p:blipFill>
        <p:spPr>
          <a:xfrm>
            <a:off x="1855695" y="4500283"/>
            <a:ext cx="7953836" cy="1541930"/>
          </a:xfrm>
          <a:prstGeom prst="rect">
            <a:avLst/>
          </a:prstGeom>
          <a:noFill/>
          <a:ln>
            <a:noFill/>
          </a:ln>
        </p:spPr>
      </p:pic>
    </p:spTree>
    <p:extLst>
      <p:ext uri="{BB962C8B-B14F-4D97-AF65-F5344CB8AC3E}">
        <p14:creationId xmlns:p14="http://schemas.microsoft.com/office/powerpoint/2010/main" val="2820162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D2063-60C3-2CC2-1973-A0E57BBB037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64349B-E19A-CFEE-98B6-9AB3E3A103D4}"/>
              </a:ext>
            </a:extLst>
          </p:cNvPr>
          <p:cNvSpPr>
            <a:spLocks noGrp="1"/>
          </p:cNvSpPr>
          <p:nvPr>
            <p:ph type="title"/>
          </p:nvPr>
        </p:nvSpPr>
        <p:spPr/>
        <p:txBody>
          <a:bodyPr/>
          <a:lstStyle/>
          <a:p>
            <a:r>
              <a:rPr lang="ru" dirty="0"/>
              <a:t>Разделение на Train/Validation/Test</a:t>
            </a:r>
            <a:endParaRPr lang="ru-RU" dirty="0"/>
          </a:p>
        </p:txBody>
      </p:sp>
      <p:pic>
        <p:nvPicPr>
          <p:cNvPr id="4" name="Picture 2" descr="Picture background">
            <a:extLst>
              <a:ext uri="{FF2B5EF4-FFF2-40B4-BE49-F238E27FC236}">
                <a16:creationId xmlns:a16="http://schemas.microsoft.com/office/drawing/2014/main" id="{4B8AE3C5-2B05-21EB-CB37-5F1D789F58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584432BE-B927-27E3-E102-8C00F00793F7}"/>
              </a:ext>
            </a:extLst>
          </p:cNvPr>
          <p:cNvSpPr>
            <a:spLocks noGrp="1"/>
          </p:cNvSpPr>
          <p:nvPr>
            <p:ph idx="1"/>
          </p:nvPr>
        </p:nvSpPr>
        <p:spPr>
          <a:xfrm>
            <a:off x="838200" y="1690688"/>
            <a:ext cx="9901518" cy="3768818"/>
          </a:xfrm>
        </p:spPr>
        <p:txBody>
          <a:bodyPr>
            <a:normAutofit/>
          </a:bodyPr>
          <a:lstStyle/>
          <a:p>
            <a:pPr marL="0" indent="0">
              <a:buNone/>
            </a:pPr>
            <a:r>
              <a:rPr lang="ru-RU" sz="2400" b="1" dirty="0"/>
              <a:t>Переобучение</a:t>
            </a:r>
            <a:r>
              <a:rPr lang="ru-RU" sz="2400" dirty="0"/>
              <a:t> - ситуация, когда качество модели на </a:t>
            </a:r>
            <a:r>
              <a:rPr lang="ru-RU" sz="2400" dirty="0" err="1"/>
              <a:t>train</a:t>
            </a:r>
            <a:r>
              <a:rPr lang="ru-RU" sz="2400" dirty="0"/>
              <a:t> данных значительно лучше, чем на </a:t>
            </a:r>
            <a:r>
              <a:rPr lang="ru-RU" sz="2400" dirty="0" err="1"/>
              <a:t>validation</a:t>
            </a:r>
            <a:r>
              <a:rPr lang="ru-RU" sz="2400" dirty="0"/>
              <a:t>/</a:t>
            </a:r>
            <a:r>
              <a:rPr lang="ru-RU" sz="2400" dirty="0" err="1"/>
              <a:t>test</a:t>
            </a:r>
            <a:r>
              <a:rPr lang="ru-RU" sz="2400" dirty="0"/>
              <a:t>.</a:t>
            </a:r>
          </a:p>
        </p:txBody>
      </p:sp>
      <p:pic>
        <p:nvPicPr>
          <p:cNvPr id="6" name="Google Shape;374;p31" descr="Deriving Polynomial Regression with Regularization to Avoid Overfitting –  Ardian Umam blog">
            <a:extLst>
              <a:ext uri="{FF2B5EF4-FFF2-40B4-BE49-F238E27FC236}">
                <a16:creationId xmlns:a16="http://schemas.microsoft.com/office/drawing/2014/main" id="{42B0DB77-6EAA-0783-FE51-8DFDEA6EDDF6}"/>
              </a:ext>
            </a:extLst>
          </p:cNvPr>
          <p:cNvPicPr preferRelativeResize="0"/>
          <p:nvPr/>
        </p:nvPicPr>
        <p:blipFill rotWithShape="1">
          <a:blip r:embed="rId3">
            <a:alphaModFix/>
          </a:blip>
          <a:srcRect/>
          <a:stretch/>
        </p:blipFill>
        <p:spPr>
          <a:xfrm>
            <a:off x="1133452" y="2612606"/>
            <a:ext cx="3790767" cy="2846900"/>
          </a:xfrm>
          <a:prstGeom prst="rect">
            <a:avLst/>
          </a:prstGeom>
          <a:noFill/>
          <a:ln>
            <a:noFill/>
          </a:ln>
        </p:spPr>
      </p:pic>
      <p:sp>
        <p:nvSpPr>
          <p:cNvPr id="7" name="Google Shape;380;p31">
            <a:extLst>
              <a:ext uri="{FF2B5EF4-FFF2-40B4-BE49-F238E27FC236}">
                <a16:creationId xmlns:a16="http://schemas.microsoft.com/office/drawing/2014/main" id="{DED8D20E-CBB9-1A07-669F-2C8AFF785B63}"/>
              </a:ext>
            </a:extLst>
          </p:cNvPr>
          <p:cNvSpPr/>
          <p:nvPr/>
        </p:nvSpPr>
        <p:spPr>
          <a:xfrm>
            <a:off x="1430517" y="5457090"/>
            <a:ext cx="177156" cy="161051"/>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8" name="Google Shape;381;p31">
            <a:extLst>
              <a:ext uri="{FF2B5EF4-FFF2-40B4-BE49-F238E27FC236}">
                <a16:creationId xmlns:a16="http://schemas.microsoft.com/office/drawing/2014/main" id="{906B22C2-1D95-0266-435D-DB5F12075DE7}"/>
              </a:ext>
            </a:extLst>
          </p:cNvPr>
          <p:cNvSpPr txBox="1"/>
          <p:nvPr/>
        </p:nvSpPr>
        <p:spPr>
          <a:xfrm>
            <a:off x="1576052" y="5214324"/>
            <a:ext cx="4057600" cy="920512"/>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ru" sz="2400" dirty="0">
                <a:solidFill>
                  <a:srgbClr val="000000"/>
                </a:solidFill>
                <a:ea typeface="Old Standard TT"/>
                <a:cs typeface="Old Standard TT"/>
                <a:sym typeface="Old Standard TT"/>
              </a:rPr>
              <a:t>-точка из test датасета</a:t>
            </a:r>
            <a:endParaRPr sz="2400" dirty="0">
              <a:solidFill>
                <a:srgbClr val="000000"/>
              </a:solidFill>
              <a:ea typeface="Old Standard TT"/>
              <a:cs typeface="Old Standard TT"/>
              <a:sym typeface="Old Standard TT"/>
            </a:endParaRPr>
          </a:p>
        </p:txBody>
      </p:sp>
      <p:pic>
        <p:nvPicPr>
          <p:cNvPr id="9" name="Google Shape;382;p31" descr="Deriving Polynomial Regression with Regularization to Avoid Overfitting –  Ardian Umam blog">
            <a:extLst>
              <a:ext uri="{FF2B5EF4-FFF2-40B4-BE49-F238E27FC236}">
                <a16:creationId xmlns:a16="http://schemas.microsoft.com/office/drawing/2014/main" id="{58981B0A-B0E5-92AD-C2B9-DA92705F4302}"/>
              </a:ext>
            </a:extLst>
          </p:cNvPr>
          <p:cNvPicPr preferRelativeResize="0"/>
          <p:nvPr/>
        </p:nvPicPr>
        <p:blipFill rotWithShape="1">
          <a:blip r:embed="rId3">
            <a:alphaModFix/>
          </a:blip>
          <a:srcRect l="9831" t="33004" r="86642" b="60810"/>
          <a:stretch>
            <a:fillRect/>
          </a:stretch>
        </p:blipFill>
        <p:spPr>
          <a:xfrm>
            <a:off x="1430517" y="5763167"/>
            <a:ext cx="245440" cy="323200"/>
          </a:xfrm>
          <a:prstGeom prst="rect">
            <a:avLst/>
          </a:prstGeom>
          <a:noFill/>
          <a:ln>
            <a:noFill/>
          </a:ln>
        </p:spPr>
      </p:pic>
      <p:sp>
        <p:nvSpPr>
          <p:cNvPr id="10" name="Google Shape;383;p31">
            <a:extLst>
              <a:ext uri="{FF2B5EF4-FFF2-40B4-BE49-F238E27FC236}">
                <a16:creationId xmlns:a16="http://schemas.microsoft.com/office/drawing/2014/main" id="{3BD84E74-9574-CD71-A488-FCBB8545E6DD}"/>
              </a:ext>
            </a:extLst>
          </p:cNvPr>
          <p:cNvSpPr txBox="1"/>
          <p:nvPr/>
        </p:nvSpPr>
        <p:spPr>
          <a:xfrm>
            <a:off x="1553237" y="5553967"/>
            <a:ext cx="3667374" cy="5324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ru" sz="2400" dirty="0">
                <a:solidFill>
                  <a:srgbClr val="000000"/>
                </a:solidFill>
                <a:ea typeface="Old Standard TT"/>
                <a:cs typeface="Old Standard TT"/>
                <a:sym typeface="Old Standard TT"/>
              </a:rPr>
              <a:t>-точка из train датасета</a:t>
            </a:r>
            <a:endParaRPr sz="2400" dirty="0">
              <a:solidFill>
                <a:srgbClr val="000000"/>
              </a:solidFill>
              <a:ea typeface="Old Standard TT"/>
              <a:cs typeface="Old Standard TT"/>
              <a:sym typeface="Old Standard TT"/>
            </a:endParaRPr>
          </a:p>
        </p:txBody>
      </p:sp>
      <p:pic>
        <p:nvPicPr>
          <p:cNvPr id="11" name="Google Shape;373;p31">
            <a:extLst>
              <a:ext uri="{FF2B5EF4-FFF2-40B4-BE49-F238E27FC236}">
                <a16:creationId xmlns:a16="http://schemas.microsoft.com/office/drawing/2014/main" id="{9D959210-75FE-16D0-2984-78230A75542D}"/>
              </a:ext>
            </a:extLst>
          </p:cNvPr>
          <p:cNvPicPr preferRelativeResize="0"/>
          <p:nvPr/>
        </p:nvPicPr>
        <p:blipFill rotWithShape="1">
          <a:blip r:embed="rId4">
            <a:alphaModFix/>
          </a:blip>
          <a:srcRect b="-1192"/>
          <a:stretch/>
        </p:blipFill>
        <p:spPr>
          <a:xfrm>
            <a:off x="6954816" y="2070848"/>
            <a:ext cx="4103731" cy="4015520"/>
          </a:xfrm>
          <a:prstGeom prst="rect">
            <a:avLst/>
          </a:prstGeom>
          <a:noFill/>
          <a:ln>
            <a:noFill/>
          </a:ln>
        </p:spPr>
      </p:pic>
    </p:spTree>
    <p:extLst>
      <p:ext uri="{BB962C8B-B14F-4D97-AF65-F5344CB8AC3E}">
        <p14:creationId xmlns:p14="http://schemas.microsoft.com/office/powerpoint/2010/main" val="1131347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A3A68-DC80-E528-C2BF-BDF8BB89943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4796F8-2F0C-1EB2-AB9C-D0F6DDB15970}"/>
              </a:ext>
            </a:extLst>
          </p:cNvPr>
          <p:cNvSpPr>
            <a:spLocks noGrp="1"/>
          </p:cNvSpPr>
          <p:nvPr>
            <p:ph type="title"/>
          </p:nvPr>
        </p:nvSpPr>
        <p:spPr/>
        <p:txBody>
          <a:bodyPr/>
          <a:lstStyle/>
          <a:p>
            <a:pPr>
              <a:lnSpc>
                <a:spcPct val="100000"/>
              </a:lnSpc>
              <a:spcBef>
                <a:spcPts val="0"/>
              </a:spcBef>
              <a:buSzPts val="3000"/>
            </a:pPr>
            <a:r>
              <a:rPr lang="en-US" dirty="0"/>
              <a:t>Cross-validation</a:t>
            </a:r>
          </a:p>
        </p:txBody>
      </p:sp>
      <p:pic>
        <p:nvPicPr>
          <p:cNvPr id="4" name="Picture 2" descr="Picture background">
            <a:extLst>
              <a:ext uri="{FF2B5EF4-FFF2-40B4-BE49-F238E27FC236}">
                <a16:creationId xmlns:a16="http://schemas.microsoft.com/office/drawing/2014/main" id="{2CF2A46E-6B0C-AF52-3904-A2535B790B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pic>
        <p:nvPicPr>
          <p:cNvPr id="14" name="Google Shape;389;p32" descr="3.1. Cross-validation: evaluating estimator performance — scikit-learn  0.23.2 documentation">
            <a:extLst>
              <a:ext uri="{FF2B5EF4-FFF2-40B4-BE49-F238E27FC236}">
                <a16:creationId xmlns:a16="http://schemas.microsoft.com/office/drawing/2014/main" id="{B39CA8E5-4C58-66D8-6D4A-FD5843F148FD}"/>
              </a:ext>
            </a:extLst>
          </p:cNvPr>
          <p:cNvPicPr preferRelativeResize="0"/>
          <p:nvPr/>
        </p:nvPicPr>
        <p:blipFill rotWithShape="1">
          <a:blip r:embed="rId3">
            <a:alphaModFix/>
          </a:blip>
          <a:srcRect/>
          <a:stretch/>
        </p:blipFill>
        <p:spPr>
          <a:xfrm>
            <a:off x="2543760" y="1690688"/>
            <a:ext cx="6296949" cy="4359436"/>
          </a:xfrm>
          <a:prstGeom prst="rect">
            <a:avLst/>
          </a:prstGeom>
          <a:noFill/>
          <a:ln>
            <a:noFill/>
          </a:ln>
        </p:spPr>
      </p:pic>
      <p:sp>
        <p:nvSpPr>
          <p:cNvPr id="15" name="Google Shape;391;p32">
            <a:extLst>
              <a:ext uri="{FF2B5EF4-FFF2-40B4-BE49-F238E27FC236}">
                <a16:creationId xmlns:a16="http://schemas.microsoft.com/office/drawing/2014/main" id="{313A34B5-10AB-9515-776E-B1ED80D343D6}"/>
              </a:ext>
            </a:extLst>
          </p:cNvPr>
          <p:cNvSpPr txBox="1"/>
          <p:nvPr/>
        </p:nvSpPr>
        <p:spPr>
          <a:xfrm>
            <a:off x="7390909" y="4039520"/>
            <a:ext cx="1540957" cy="1127792"/>
          </a:xfrm>
          <a:prstGeom prst="rect">
            <a:avLst/>
          </a:prstGeom>
          <a:solidFill>
            <a:schemeClr val="bg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ru" sz="1400" b="0" i="0" u="none" strike="noStrike" cap="none" dirty="0">
                <a:solidFill>
                  <a:srgbClr val="000000"/>
                </a:solidFill>
                <a:latin typeface="Old Standard TT"/>
                <a:ea typeface="Old Standard TT"/>
                <a:cs typeface="Old Standard TT"/>
                <a:sym typeface="Old Standard TT"/>
              </a:rPr>
              <a:t>Выполняем обучение для каждого из 5 сплитов</a:t>
            </a:r>
            <a:endParaRPr sz="1400" b="0" i="0" u="none" strike="noStrike" cap="none" dirty="0">
              <a:solidFill>
                <a:srgbClr val="000000"/>
              </a:solidFill>
              <a:latin typeface="Old Standard TT"/>
              <a:ea typeface="Old Standard TT"/>
              <a:cs typeface="Old Standard TT"/>
              <a:sym typeface="Old Standard TT"/>
            </a:endParaRPr>
          </a:p>
        </p:txBody>
      </p:sp>
      <p:sp>
        <p:nvSpPr>
          <p:cNvPr id="16" name="Google Shape;393;p32">
            <a:extLst>
              <a:ext uri="{FF2B5EF4-FFF2-40B4-BE49-F238E27FC236}">
                <a16:creationId xmlns:a16="http://schemas.microsoft.com/office/drawing/2014/main" id="{2AB72E09-F32D-41A2-56BC-ED8DB0259DD5}"/>
              </a:ext>
            </a:extLst>
          </p:cNvPr>
          <p:cNvSpPr txBox="1"/>
          <p:nvPr/>
        </p:nvSpPr>
        <p:spPr>
          <a:xfrm>
            <a:off x="4417616" y="5613968"/>
            <a:ext cx="2454442" cy="493906"/>
          </a:xfrm>
          <a:prstGeom prst="rect">
            <a:avLst/>
          </a:prstGeom>
          <a:solidFill>
            <a:schemeClr val="bg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ru" sz="1400" b="0" i="0" u="none" strike="noStrike" cap="none" dirty="0">
                <a:solidFill>
                  <a:srgbClr val="000000"/>
                </a:solidFill>
                <a:latin typeface="Old Standard TT"/>
                <a:ea typeface="Old Standard TT"/>
                <a:cs typeface="Old Standard TT"/>
                <a:sym typeface="Old Standard TT"/>
              </a:rPr>
              <a:t>Итоговая оценка качества</a:t>
            </a:r>
            <a:endParaRPr sz="1400" b="0" i="0" u="none" strike="noStrike" cap="none" dirty="0">
              <a:solidFill>
                <a:srgbClr val="000000"/>
              </a:solidFill>
              <a:latin typeface="Old Standard TT"/>
              <a:ea typeface="Old Standard TT"/>
              <a:cs typeface="Old Standard TT"/>
              <a:sym typeface="Old Standard TT"/>
            </a:endParaRPr>
          </a:p>
        </p:txBody>
      </p:sp>
    </p:spTree>
    <p:extLst>
      <p:ext uri="{BB962C8B-B14F-4D97-AF65-F5344CB8AC3E}">
        <p14:creationId xmlns:p14="http://schemas.microsoft.com/office/powerpoint/2010/main" val="3817083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4EAB8-C269-7740-B4B5-BB47C97C8F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A4C8EC-0142-B764-EE25-96EF7C32C17E}"/>
              </a:ext>
            </a:extLst>
          </p:cNvPr>
          <p:cNvSpPr>
            <a:spLocks noGrp="1"/>
          </p:cNvSpPr>
          <p:nvPr>
            <p:ph type="title"/>
          </p:nvPr>
        </p:nvSpPr>
        <p:spPr/>
        <p:txBody>
          <a:bodyPr/>
          <a:lstStyle/>
          <a:p>
            <a:endParaRPr lang="ru-RU" dirty="0"/>
          </a:p>
        </p:txBody>
      </p:sp>
      <p:pic>
        <p:nvPicPr>
          <p:cNvPr id="4" name="Picture 2" descr="Picture background">
            <a:extLst>
              <a:ext uri="{FF2B5EF4-FFF2-40B4-BE49-F238E27FC236}">
                <a16:creationId xmlns:a16="http://schemas.microsoft.com/office/drawing/2014/main" id="{8272CDB5-EC00-B452-ACCC-9AFEE8E1DD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117"/>
          <a:stretch/>
        </p:blipFill>
        <p:spPr bwMode="auto">
          <a:xfrm>
            <a:off x="-6458" y="6176964"/>
            <a:ext cx="12198458" cy="67740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2C9B2686-7901-A51B-BD98-AF95B9333CCD}"/>
              </a:ext>
            </a:extLst>
          </p:cNvPr>
          <p:cNvSpPr>
            <a:spLocks noGrp="1"/>
          </p:cNvSpPr>
          <p:nvPr>
            <p:ph idx="1"/>
          </p:nvPr>
        </p:nvSpPr>
        <p:spPr>
          <a:xfrm>
            <a:off x="838200" y="1690688"/>
            <a:ext cx="10869706" cy="677408"/>
          </a:xfrm>
        </p:spPr>
        <p:txBody>
          <a:bodyPr>
            <a:normAutofit/>
          </a:bodyPr>
          <a:lstStyle/>
          <a:p>
            <a:pPr marL="0" indent="0">
              <a:buNone/>
            </a:pPr>
            <a:endParaRPr lang="ru-RU" dirty="0"/>
          </a:p>
        </p:txBody>
      </p:sp>
      <p:pic>
        <p:nvPicPr>
          <p:cNvPr id="1026" name="Picture 2" descr="Picture background">
            <a:extLst>
              <a:ext uri="{FF2B5EF4-FFF2-40B4-BE49-F238E27FC236}">
                <a16:creationId xmlns:a16="http://schemas.microsoft.com/office/drawing/2014/main" id="{66B2FBB4-5464-F5FE-41A2-3C205BC31E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933" y="0"/>
            <a:ext cx="55276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80415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TotalTime>
  <Words>701</Words>
  <Application>Microsoft Office PowerPoint</Application>
  <PresentationFormat>Широкоэкранный</PresentationFormat>
  <Paragraphs>146</Paragraphs>
  <Slides>28</Slides>
  <Notes>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28</vt:i4>
      </vt:variant>
    </vt:vector>
  </HeadingPairs>
  <TitlesOfParts>
    <vt:vector size="34" baseType="lpstr">
      <vt:lpstr>Arial</vt:lpstr>
      <vt:lpstr>Calibri</vt:lpstr>
      <vt:lpstr>Calibri Light</vt:lpstr>
      <vt:lpstr>Cambria Math</vt:lpstr>
      <vt:lpstr>Old Standard TT</vt:lpstr>
      <vt:lpstr>Тема Office</vt:lpstr>
      <vt:lpstr>Машинное обучение и нейронные сети</vt:lpstr>
      <vt:lpstr>Вспомним: Область интереса</vt:lpstr>
      <vt:lpstr>Вспомним: Machine learning</vt:lpstr>
      <vt:lpstr>Вспомним: Supervised learning</vt:lpstr>
      <vt:lpstr>Вспомним: Unsupervised learning</vt:lpstr>
      <vt:lpstr>Вспомним: (un)supervised learning</vt:lpstr>
      <vt:lpstr>Вспомним: Reinforcement learning</vt:lpstr>
      <vt:lpstr>Вспомним: Метрика</vt:lpstr>
      <vt:lpstr>Вспомним: разбиение на train, val, test</vt:lpstr>
      <vt:lpstr>Обучение с учителем (supervised learning)</vt:lpstr>
      <vt:lpstr>Обучение с учителем (supervised learning)</vt:lpstr>
      <vt:lpstr>Примеры задач (Ирисы Фишера)</vt:lpstr>
      <vt:lpstr>Примеры задач (Цена дома)</vt:lpstr>
      <vt:lpstr>Примеры задач (Поисковая выдача)</vt:lpstr>
      <vt:lpstr>K-Nearest Neighbors (KNN)</vt:lpstr>
      <vt:lpstr>Curse of Dimensionality</vt:lpstr>
      <vt:lpstr>Feature Scale</vt:lpstr>
      <vt:lpstr>Обучение с учителем (supervised learning)</vt:lpstr>
      <vt:lpstr>Обучение с учителем (supervised learning)</vt:lpstr>
      <vt:lpstr>Обучение с учителем (supervised learning)</vt:lpstr>
      <vt:lpstr>Пара слов о линейной регрессии</vt:lpstr>
      <vt:lpstr>Пара слов о линейной регрессии</vt:lpstr>
      <vt:lpstr>Пара слов о линейной регрессии</vt:lpstr>
      <vt:lpstr>Пара слов о KNN</vt:lpstr>
      <vt:lpstr>Разделение на Train/Validation/Test</vt:lpstr>
      <vt:lpstr>Разделение на Train/Validation/Test</vt:lpstr>
      <vt:lpstr>Cross-validation</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Николай Нефедьев</dc:creator>
  <cp:lastModifiedBy>Николай Нефедьев</cp:lastModifiedBy>
  <cp:revision>59</cp:revision>
  <dcterms:created xsi:type="dcterms:W3CDTF">2026-09-08T19:14:07Z</dcterms:created>
  <dcterms:modified xsi:type="dcterms:W3CDTF">2026-09-16T21:47:31Z</dcterms:modified>
</cp:coreProperties>
</file>